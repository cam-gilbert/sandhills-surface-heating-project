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3"/>
  </p:notesMasterIdLst>
  <p:sldIdLst>
    <p:sldId id="256" r:id="rId5"/>
    <p:sldId id="260" r:id="rId6"/>
    <p:sldId id="257" r:id="rId7"/>
    <p:sldId id="258" r:id="rId8"/>
    <p:sldId id="259" r:id="rId9"/>
    <p:sldId id="284" r:id="rId10"/>
    <p:sldId id="285" r:id="rId11"/>
    <p:sldId id="261" r:id="rId12"/>
    <p:sldId id="262" r:id="rId13"/>
    <p:sldId id="263" r:id="rId14"/>
    <p:sldId id="266" r:id="rId15"/>
    <p:sldId id="265" r:id="rId16"/>
    <p:sldId id="268" r:id="rId17"/>
    <p:sldId id="269" r:id="rId18"/>
    <p:sldId id="272" r:id="rId19"/>
    <p:sldId id="270" r:id="rId20"/>
    <p:sldId id="273" r:id="rId21"/>
    <p:sldId id="275" r:id="rId22"/>
    <p:sldId id="274" r:id="rId23"/>
    <p:sldId id="276" r:id="rId24"/>
    <p:sldId id="277" r:id="rId25"/>
    <p:sldId id="278" r:id="rId26"/>
    <p:sldId id="281" r:id="rId27"/>
    <p:sldId id="282" r:id="rId28"/>
    <p:sldId id="283" r:id="rId29"/>
    <p:sldId id="286" r:id="rId30"/>
    <p:sldId id="279" r:id="rId31"/>
    <p:sldId id="280" r:id="rId32"/>
  </p:sldIdLst>
  <p:sldSz cx="12192000" cy="6858000"/>
  <p:notesSz cx="6858000" cy="9144000"/>
  <p:embeddedFontLst>
    <p:embeddedFont>
      <p:font typeface="Public Sans" pitchFamily="2" charset="77"/>
      <p:regular r:id="rId34"/>
      <p:bold r:id="rId35"/>
      <p:italic r:id="rId36"/>
      <p:boldItalic r:id="rId37"/>
    </p:embeddedFont>
    <p:embeddedFont>
      <p:font typeface="Public Sans Black" pitchFamily="2" charset="77"/>
      <p:bold r:id="rId38"/>
      <p:italic r:id="rId39"/>
      <p:boldItalic r:id="rId40"/>
    </p:embeddedFont>
    <p:embeddedFont>
      <p:font typeface="Public Sans Medium" pitchFamily="2" charset="77"/>
      <p:regular r:id="rId41"/>
      <p:italic r:id="rId42"/>
    </p:embeddedFont>
    <p:embeddedFont>
      <p:font typeface="Public Sans SemiBold" pitchFamily="2" charset="77"/>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din, Marty J" initials="HMJ" lastIdx="1" clrIdx="0">
    <p:extLst>
      <p:ext uri="{19B8F6BF-5375-455C-9EA6-DF929625EA0E}">
        <p15:presenceInfo xmlns:p15="http://schemas.microsoft.com/office/powerpoint/2012/main" userId="S::mhardin@albany.edu::cfe56731-b62e-4da8-a2fe-e009ec4a108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116F"/>
    <a:srgbClr val="1C052A"/>
    <a:srgbClr val="A2AAAD"/>
    <a:srgbClr val="FFB401"/>
    <a:srgbClr val="330B4B"/>
    <a:srgbClr val="C58B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A392D6-5978-0C35-2E3D-F79246E6BAB3}" v="1" dt="2026-01-26T21:15:38.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36"/>
    <p:restoredTop sz="94618"/>
  </p:normalViewPr>
  <p:slideViewPr>
    <p:cSldViewPr snapToGrid="0">
      <p:cViewPr varScale="1">
        <p:scale>
          <a:sx n="132" d="100"/>
          <a:sy n="132" d="100"/>
        </p:scale>
        <p:origin x="1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6.xml"/><Relationship Id="rId41"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lSignore, Ashley" userId="S::adelsignore@albany.edu::43631e84-17af-472a-8aba-cb4e064ec318" providerId="AD" clId="Web-{A9A392D6-5978-0C35-2E3D-F79246E6BAB3}"/>
    <pc:docChg chg="delSld">
      <pc:chgData name="DelSignore, Ashley" userId="S::adelsignore@albany.edu::43631e84-17af-472a-8aba-cb4e064ec318" providerId="AD" clId="Web-{A9A392D6-5978-0C35-2E3D-F79246E6BAB3}" dt="2026-01-26T21:15:38.455" v="0"/>
      <pc:docMkLst>
        <pc:docMk/>
      </pc:docMkLst>
      <pc:sldChg chg="del">
        <pc:chgData name="DelSignore, Ashley" userId="S::adelsignore@albany.edu::43631e84-17af-472a-8aba-cb4e064ec318" providerId="AD" clId="Web-{A9A392D6-5978-0C35-2E3D-F79246E6BAB3}" dt="2026-01-26T21:15:38.455" v="0"/>
        <pc:sldMkLst>
          <pc:docMk/>
          <pc:sldMk cId="32275752"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28468B-793C-8944-AF38-DF47E894FE7D}" type="datetimeFigureOut">
              <a:rPr lang="en-US" smtClean="0"/>
              <a:t>5/11/26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F60CC7-E608-B14E-92E2-29CAE9C9BFA3}" type="slidenum">
              <a:rPr lang="en-US" smtClean="0"/>
              <a:t>‹#›</a:t>
            </a:fld>
            <a:endParaRPr lang="en-US"/>
          </a:p>
        </p:txBody>
      </p:sp>
    </p:spTree>
    <p:extLst>
      <p:ext uri="{BB962C8B-B14F-4D97-AF65-F5344CB8AC3E}">
        <p14:creationId xmlns:p14="http://schemas.microsoft.com/office/powerpoint/2010/main" val="3890888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F60CC7-E608-B14E-92E2-29CAE9C9BFA3}" type="slidenum">
              <a:rPr lang="en-US" smtClean="0"/>
              <a:t>4</a:t>
            </a:fld>
            <a:endParaRPr lang="en-US"/>
          </a:p>
        </p:txBody>
      </p:sp>
    </p:spTree>
    <p:extLst>
      <p:ext uri="{BB962C8B-B14F-4D97-AF65-F5344CB8AC3E}">
        <p14:creationId xmlns:p14="http://schemas.microsoft.com/office/powerpoint/2010/main" val="2275474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Surface Temperature data is further post processed after download. The quality control data that accompanies each image is used to filter out any pixels that have been flagged as poor quality or did not have LST produced. </a:t>
            </a:r>
          </a:p>
          <a:p>
            <a:r>
              <a:rPr lang="en-US" dirty="0"/>
              <a:t>The same quality control data is also used to filter out any pixels that have an average error above 3 Kelvin. </a:t>
            </a:r>
          </a:p>
          <a:p>
            <a:r>
              <a:rPr lang="en-US" dirty="0"/>
              <a:t>The daytime passes of both satellites are grouped together to create a common ‘day’ dataset, and the nighttime passes are handled the same way.</a:t>
            </a:r>
          </a:p>
          <a:p>
            <a:endParaRPr lang="en-US" dirty="0"/>
          </a:p>
        </p:txBody>
      </p:sp>
      <p:sp>
        <p:nvSpPr>
          <p:cNvPr id="4" name="Slide Number Placeholder 3"/>
          <p:cNvSpPr>
            <a:spLocks noGrp="1"/>
          </p:cNvSpPr>
          <p:nvPr>
            <p:ph type="sldNum" sz="quarter" idx="5"/>
          </p:nvPr>
        </p:nvSpPr>
        <p:spPr/>
        <p:txBody>
          <a:bodyPr/>
          <a:lstStyle/>
          <a:p>
            <a:fld id="{9FF60CC7-E608-B14E-92E2-29CAE9C9BFA3}" type="slidenum">
              <a:rPr lang="en-US" smtClean="0"/>
              <a:t>11</a:t>
            </a:fld>
            <a:endParaRPr lang="en-US"/>
          </a:p>
        </p:txBody>
      </p:sp>
    </p:spTree>
    <p:extLst>
      <p:ext uri="{BB962C8B-B14F-4D97-AF65-F5344CB8AC3E}">
        <p14:creationId xmlns:p14="http://schemas.microsoft.com/office/powerpoint/2010/main" val="1016010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CEFF7-7EC4-EB8B-530A-495075F38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B460B-75CE-BCD0-6D3B-7AA8D79FE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728B6-C523-EC4C-07F7-C8393DDDB25D}"/>
              </a:ext>
            </a:extLst>
          </p:cNvPr>
          <p:cNvSpPr>
            <a:spLocks noGrp="1"/>
          </p:cNvSpPr>
          <p:nvPr>
            <p:ph type="body" idx="1"/>
          </p:nvPr>
        </p:nvSpPr>
        <p:spPr/>
        <p:txBody>
          <a:bodyPr/>
          <a:lstStyle/>
          <a:p>
            <a:r>
              <a:rPr lang="en-US" dirty="0"/>
              <a:t>Land Surface Temperature data is further post processed after download. The quality control data that accompanies each image is used to filter out any pixels that have been flagged as poor quality or did not have LST produced. </a:t>
            </a:r>
          </a:p>
          <a:p>
            <a:r>
              <a:rPr lang="en-US" dirty="0"/>
              <a:t>The same quality control data is also used to filter out any pixels that have an average error above 3 Kelvin. </a:t>
            </a:r>
          </a:p>
          <a:p>
            <a:r>
              <a:rPr lang="en-US" dirty="0"/>
              <a:t>The daytime passes of both satellites are grouped together to create a common ‘day’ dataset, and the nighttime passes are handled the same way.</a:t>
            </a:r>
          </a:p>
          <a:p>
            <a:endParaRPr lang="en-US" dirty="0"/>
          </a:p>
        </p:txBody>
      </p:sp>
      <p:sp>
        <p:nvSpPr>
          <p:cNvPr id="4" name="Slide Number Placeholder 3">
            <a:extLst>
              <a:ext uri="{FF2B5EF4-FFF2-40B4-BE49-F238E27FC236}">
                <a16:creationId xmlns:a16="http://schemas.microsoft.com/office/drawing/2014/main" id="{2FC62203-4D13-FA7E-2725-5B8661FAAD9A}"/>
              </a:ext>
            </a:extLst>
          </p:cNvPr>
          <p:cNvSpPr>
            <a:spLocks noGrp="1"/>
          </p:cNvSpPr>
          <p:nvPr>
            <p:ph type="sldNum" sz="quarter" idx="5"/>
          </p:nvPr>
        </p:nvSpPr>
        <p:spPr/>
        <p:txBody>
          <a:bodyPr/>
          <a:lstStyle/>
          <a:p>
            <a:fld id="{9FF60CC7-E608-B14E-92E2-29CAE9C9BFA3}" type="slidenum">
              <a:rPr lang="en-US" smtClean="0"/>
              <a:t>13</a:t>
            </a:fld>
            <a:endParaRPr lang="en-US"/>
          </a:p>
        </p:txBody>
      </p:sp>
    </p:spTree>
    <p:extLst>
      <p:ext uri="{BB962C8B-B14F-4D97-AF65-F5344CB8AC3E}">
        <p14:creationId xmlns:p14="http://schemas.microsoft.com/office/powerpoint/2010/main" val="3475956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increase in the NDVI in the sandhills gives you less cooling than an increase in the NDVI in the control region. This makes sense because the dry sandy soil in the sandhills causes vegetation to grow that is adapted to dry conditions, leading to less transpiration. This does not happen in the clay soils of the piedmont to the west or the sandy loam soils to the east where more efficient transpiration can occur. </a:t>
            </a:r>
          </a:p>
        </p:txBody>
      </p:sp>
      <p:sp>
        <p:nvSpPr>
          <p:cNvPr id="4" name="Slide Number Placeholder 3"/>
          <p:cNvSpPr>
            <a:spLocks noGrp="1"/>
          </p:cNvSpPr>
          <p:nvPr>
            <p:ph type="sldNum" sz="quarter" idx="5"/>
          </p:nvPr>
        </p:nvSpPr>
        <p:spPr/>
        <p:txBody>
          <a:bodyPr/>
          <a:lstStyle/>
          <a:p>
            <a:fld id="{9FF60CC7-E608-B14E-92E2-29CAE9C9BFA3}" type="slidenum">
              <a:rPr lang="en-US" smtClean="0"/>
              <a:t>21</a:t>
            </a:fld>
            <a:endParaRPr lang="en-US"/>
          </a:p>
        </p:txBody>
      </p:sp>
    </p:spTree>
    <p:extLst>
      <p:ext uri="{BB962C8B-B14F-4D97-AF65-F5344CB8AC3E}">
        <p14:creationId xmlns:p14="http://schemas.microsoft.com/office/powerpoint/2010/main" val="2823128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61E0C3-F3F3-5E44-97C2-656DB6C86A96}"/>
              </a:ext>
            </a:extLst>
          </p:cNvPr>
          <p:cNvSpPr>
            <a:spLocks noGrp="1"/>
          </p:cNvSpPr>
          <p:nvPr>
            <p:ph type="title"/>
          </p:nvPr>
        </p:nvSpPr>
        <p:spPr>
          <a:xfrm>
            <a:off x="542159" y="929519"/>
            <a:ext cx="10786241" cy="896106"/>
          </a:xfrm>
          <a:prstGeom prst="rect">
            <a:avLst/>
          </a:prstGeom>
        </p:spPr>
        <p:txBody>
          <a:bodyPr/>
          <a:lstStyle>
            <a:lvl1pPr>
              <a:defRPr>
                <a:solidFill>
                  <a:srgbClr val="4C116F"/>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7AC304BB-18DF-F54B-805C-663AC3C0084F}"/>
              </a:ext>
            </a:extLst>
          </p:cNvPr>
          <p:cNvSpPr>
            <a:spLocks noGrp="1"/>
          </p:cNvSpPr>
          <p:nvPr>
            <p:ph sz="half" idx="1"/>
          </p:nvPr>
        </p:nvSpPr>
        <p:spPr>
          <a:xfrm>
            <a:off x="534052" y="1962159"/>
            <a:ext cx="10786241"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0162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88109-4682-D447-B79A-0EE7D54F7B42}"/>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3" name="Subtitle 2">
            <a:extLst>
              <a:ext uri="{FF2B5EF4-FFF2-40B4-BE49-F238E27FC236}">
                <a16:creationId xmlns:a16="http://schemas.microsoft.com/office/drawing/2014/main" id="{46A0EB02-D92B-F54E-9FA0-7D5EA0FFACFB}"/>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a:extLst>
              <a:ext uri="{FF2B5EF4-FFF2-40B4-BE49-F238E27FC236}">
                <a16:creationId xmlns:a16="http://schemas.microsoft.com/office/drawing/2014/main" id="{4A82EF6C-5B66-DA48-A994-E99F2D9B2C37}"/>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spTree>
    <p:extLst>
      <p:ext uri="{BB962C8B-B14F-4D97-AF65-F5344CB8AC3E}">
        <p14:creationId xmlns:p14="http://schemas.microsoft.com/office/powerpoint/2010/main" val="1295214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1E5EE3E-7C57-AEE4-66A8-7F2DAC716DE5}"/>
              </a:ext>
            </a:extLst>
          </p:cNvPr>
          <p:cNvSpPr/>
          <p:nvPr userDrawn="1"/>
        </p:nvSpPr>
        <p:spPr>
          <a:xfrm>
            <a:off x="6229350" y="-285750"/>
            <a:ext cx="6700838" cy="7629525"/>
          </a:xfrm>
          <a:prstGeom prst="rect">
            <a:avLst/>
          </a:prstGeom>
          <a:solidFill>
            <a:srgbClr val="4C11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and white drawing of a person holding a microphone&#10;&#10;AI-generated content may be incorrect.">
            <a:extLst>
              <a:ext uri="{FF2B5EF4-FFF2-40B4-BE49-F238E27FC236}">
                <a16:creationId xmlns:a16="http://schemas.microsoft.com/office/drawing/2014/main" id="{BFCEB1FE-B939-C3AE-C0C2-735D43848FD8}"/>
              </a:ext>
            </a:extLst>
          </p:cNvPr>
          <p:cNvPicPr>
            <a:picLocks noChangeAspect="1"/>
          </p:cNvPicPr>
          <p:nvPr userDrawn="1"/>
        </p:nvPicPr>
        <p:blipFill>
          <a:blip r:embed="rId2"/>
          <a:stretch>
            <a:fillRect/>
          </a:stretch>
        </p:blipFill>
        <p:spPr>
          <a:xfrm>
            <a:off x="7817414" y="100012"/>
            <a:ext cx="2871979" cy="6858000"/>
          </a:xfrm>
          <a:prstGeom prst="rect">
            <a:avLst/>
          </a:prstGeom>
        </p:spPr>
      </p:pic>
      <p:sp>
        <p:nvSpPr>
          <p:cNvPr id="2" name="Title 1">
            <a:extLst>
              <a:ext uri="{FF2B5EF4-FFF2-40B4-BE49-F238E27FC236}">
                <a16:creationId xmlns:a16="http://schemas.microsoft.com/office/drawing/2014/main" id="{FA088109-4682-D447-B79A-0EE7D54F7B42}"/>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3" name="Subtitle 2">
            <a:extLst>
              <a:ext uri="{FF2B5EF4-FFF2-40B4-BE49-F238E27FC236}">
                <a16:creationId xmlns:a16="http://schemas.microsoft.com/office/drawing/2014/main" id="{46A0EB02-D92B-F54E-9FA0-7D5EA0FFACFB}"/>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912DD500-4B5B-4064-E313-CF66992B9054}"/>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spTree>
    <p:extLst>
      <p:ext uri="{BB962C8B-B14F-4D97-AF65-F5344CB8AC3E}">
        <p14:creationId xmlns:p14="http://schemas.microsoft.com/office/powerpoint/2010/main" val="280695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EBA358C-561D-B736-A784-ACDD4AA31A5B}"/>
              </a:ext>
            </a:extLst>
          </p:cNvPr>
          <p:cNvSpPr/>
          <p:nvPr userDrawn="1"/>
        </p:nvSpPr>
        <p:spPr>
          <a:xfrm>
            <a:off x="6229350" y="-285750"/>
            <a:ext cx="6700838" cy="7629525"/>
          </a:xfrm>
          <a:prstGeom prst="rect">
            <a:avLst/>
          </a:prstGeom>
          <a:solidFill>
            <a:srgbClr val="4C11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and white drawing of a person holding a microphone&#10;&#10;AI-generated content may be incorrect.">
            <a:extLst>
              <a:ext uri="{FF2B5EF4-FFF2-40B4-BE49-F238E27FC236}">
                <a16:creationId xmlns:a16="http://schemas.microsoft.com/office/drawing/2014/main" id="{BFCEB1FE-B939-C3AE-C0C2-735D43848FD8}"/>
              </a:ext>
            </a:extLst>
          </p:cNvPr>
          <p:cNvPicPr>
            <a:picLocks noChangeAspect="1"/>
          </p:cNvPicPr>
          <p:nvPr userDrawn="1"/>
        </p:nvPicPr>
        <p:blipFill>
          <a:blip r:embed="rId2"/>
          <a:stretch>
            <a:fillRect/>
          </a:stretch>
        </p:blipFill>
        <p:spPr>
          <a:xfrm>
            <a:off x="5257800" y="0"/>
            <a:ext cx="8437532" cy="20147987"/>
          </a:xfrm>
          <a:prstGeom prst="rect">
            <a:avLst/>
          </a:prstGeom>
        </p:spPr>
      </p:pic>
      <p:sp>
        <p:nvSpPr>
          <p:cNvPr id="3" name="Subtitle 2">
            <a:extLst>
              <a:ext uri="{FF2B5EF4-FFF2-40B4-BE49-F238E27FC236}">
                <a16:creationId xmlns:a16="http://schemas.microsoft.com/office/drawing/2014/main" id="{46A0EB02-D92B-F54E-9FA0-7D5EA0FFACFB}"/>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Title 1">
            <a:extLst>
              <a:ext uri="{FF2B5EF4-FFF2-40B4-BE49-F238E27FC236}">
                <a16:creationId xmlns:a16="http://schemas.microsoft.com/office/drawing/2014/main" id="{4E59D962-2B68-FA3C-F37A-3C50999545D0}"/>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6" name="Rectangle 5">
            <a:extLst>
              <a:ext uri="{FF2B5EF4-FFF2-40B4-BE49-F238E27FC236}">
                <a16:creationId xmlns:a16="http://schemas.microsoft.com/office/drawing/2014/main" id="{A47F5C4D-73F2-66F1-37C8-C85C75266619}"/>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spTree>
    <p:extLst>
      <p:ext uri="{BB962C8B-B14F-4D97-AF65-F5344CB8AC3E}">
        <p14:creationId xmlns:p14="http://schemas.microsoft.com/office/powerpoint/2010/main" val="2686384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77B331-35C6-136A-FB66-1CE1BBE4AC99}"/>
              </a:ext>
            </a:extLst>
          </p:cNvPr>
          <p:cNvSpPr/>
          <p:nvPr userDrawn="1"/>
        </p:nvSpPr>
        <p:spPr>
          <a:xfrm>
            <a:off x="-142876" y="784800"/>
            <a:ext cx="6238875" cy="6558975"/>
          </a:xfrm>
          <a:prstGeom prst="rect">
            <a:avLst/>
          </a:prstGeom>
          <a:solidFill>
            <a:srgbClr val="4C11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ack and white drawing of a person holding a microphone&#10;&#10;AI-generated content may be incorrect.">
            <a:extLst>
              <a:ext uri="{FF2B5EF4-FFF2-40B4-BE49-F238E27FC236}">
                <a16:creationId xmlns:a16="http://schemas.microsoft.com/office/drawing/2014/main" id="{6A7ADECB-B0E0-BCAF-D94B-01C7DFE619E2}"/>
              </a:ext>
            </a:extLst>
          </p:cNvPr>
          <p:cNvPicPr>
            <a:picLocks noChangeAspect="1"/>
          </p:cNvPicPr>
          <p:nvPr userDrawn="1"/>
        </p:nvPicPr>
        <p:blipFill>
          <a:blip r:embed="rId2"/>
          <a:srcRect r="19276"/>
          <a:stretch>
            <a:fillRect/>
          </a:stretch>
        </p:blipFill>
        <p:spPr>
          <a:xfrm>
            <a:off x="-1250950" y="762000"/>
            <a:ext cx="7346949" cy="21733069"/>
          </a:xfrm>
          <a:prstGeom prst="rect">
            <a:avLst/>
          </a:prstGeom>
        </p:spPr>
      </p:pic>
      <p:sp>
        <p:nvSpPr>
          <p:cNvPr id="3" name="Title 1">
            <a:extLst>
              <a:ext uri="{FF2B5EF4-FFF2-40B4-BE49-F238E27FC236}">
                <a16:creationId xmlns:a16="http://schemas.microsoft.com/office/drawing/2014/main" id="{7D9965AC-8FFA-9B01-92FD-9ABDEF48D004}"/>
              </a:ext>
            </a:extLst>
          </p:cNvPr>
          <p:cNvSpPr>
            <a:spLocks noGrp="1"/>
          </p:cNvSpPr>
          <p:nvPr>
            <p:ph type="title"/>
          </p:nvPr>
        </p:nvSpPr>
        <p:spPr>
          <a:xfrm>
            <a:off x="6600825" y="2615444"/>
            <a:ext cx="5100638" cy="2142294"/>
          </a:xfrm>
          <a:prstGeom prst="rect">
            <a:avLst/>
          </a:prstGeom>
        </p:spPr>
        <p:txBody>
          <a:bodyPr anchor="ctr"/>
          <a:lstStyle>
            <a:lvl1pPr>
              <a:lnSpc>
                <a:spcPts val="4280"/>
              </a:lnSpc>
              <a:defRPr>
                <a:solidFill>
                  <a:srgbClr val="4C116F"/>
                </a:solidFill>
              </a:defRPr>
            </a:lvl1pPr>
          </a:lstStyle>
          <a:p>
            <a:r>
              <a:rPr lang="en-US" dirty="0"/>
              <a:t>Click to edit Master title style</a:t>
            </a:r>
          </a:p>
        </p:txBody>
      </p:sp>
    </p:spTree>
    <p:extLst>
      <p:ext uri="{BB962C8B-B14F-4D97-AF65-F5344CB8AC3E}">
        <p14:creationId xmlns:p14="http://schemas.microsoft.com/office/powerpoint/2010/main" val="1184030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69A50-5748-5B40-B372-B02C40A358F0}"/>
              </a:ext>
            </a:extLst>
          </p:cNvPr>
          <p:cNvSpPr>
            <a:spLocks noGrp="1"/>
          </p:cNvSpPr>
          <p:nvPr>
            <p:ph type="title"/>
          </p:nvPr>
        </p:nvSpPr>
        <p:spPr>
          <a:xfrm>
            <a:off x="542159" y="929519"/>
            <a:ext cx="10786241" cy="896106"/>
          </a:xfrm>
          <a:prstGeom prst="rect">
            <a:avLst/>
          </a:prstGeom>
        </p:spPr>
        <p:txBody>
          <a:bodyPr/>
          <a:lstStyle>
            <a:lvl1pPr>
              <a:defRPr>
                <a:solidFill>
                  <a:srgbClr val="4C116F"/>
                </a:solidFill>
              </a:defRPr>
            </a:lvl1pPr>
          </a:lstStyle>
          <a:p>
            <a:r>
              <a:rPr lang="en-US" dirty="0"/>
              <a:t>Click to edit Master title style</a:t>
            </a:r>
          </a:p>
        </p:txBody>
      </p:sp>
    </p:spTree>
    <p:extLst>
      <p:ext uri="{BB962C8B-B14F-4D97-AF65-F5344CB8AC3E}">
        <p14:creationId xmlns:p14="http://schemas.microsoft.com/office/powerpoint/2010/main" val="967717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2AD31E-57CA-BB49-9411-675EC2BF0AC1}"/>
              </a:ext>
            </a:extLst>
          </p:cNvPr>
          <p:cNvSpPr>
            <a:spLocks noGrp="1"/>
          </p:cNvSpPr>
          <p:nvPr>
            <p:ph type="title"/>
          </p:nvPr>
        </p:nvSpPr>
        <p:spPr>
          <a:xfrm>
            <a:off x="542159" y="929519"/>
            <a:ext cx="10786241" cy="896106"/>
          </a:xfrm>
          <a:prstGeom prst="rect">
            <a:avLst/>
          </a:prstGeom>
        </p:spPr>
        <p:txBody>
          <a:bodyPr/>
          <a:lstStyle>
            <a:lvl1pPr>
              <a:defRPr>
                <a:solidFill>
                  <a:srgbClr val="4C116F"/>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F0EE92D8-3303-C94A-8E3C-8916A6C950DF}"/>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6BCA8FED-9328-894C-BF0B-33DC8509EE7B}"/>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0038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D445365-7897-0F95-7AEE-35630881FD40}"/>
              </a:ext>
            </a:extLst>
          </p:cNvPr>
          <p:cNvSpPr/>
          <p:nvPr userDrawn="1"/>
        </p:nvSpPr>
        <p:spPr>
          <a:xfrm>
            <a:off x="-142875" y="784800"/>
            <a:ext cx="2671763" cy="6558975"/>
          </a:xfrm>
          <a:prstGeom prst="rect">
            <a:avLst/>
          </a:prstGeom>
          <a:solidFill>
            <a:srgbClr val="4C11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and white drawing of a person holding a microphone&#10;&#10;AI-generated content may be incorrect.">
            <a:extLst>
              <a:ext uri="{FF2B5EF4-FFF2-40B4-BE49-F238E27FC236}">
                <a16:creationId xmlns:a16="http://schemas.microsoft.com/office/drawing/2014/main" id="{E311597F-5360-13B8-063B-A1D7AAD9073A}"/>
              </a:ext>
            </a:extLst>
          </p:cNvPr>
          <p:cNvPicPr>
            <a:picLocks noChangeAspect="1"/>
          </p:cNvPicPr>
          <p:nvPr userDrawn="1"/>
        </p:nvPicPr>
        <p:blipFill>
          <a:blip r:embed="rId2"/>
          <a:stretch>
            <a:fillRect/>
          </a:stretch>
        </p:blipFill>
        <p:spPr>
          <a:xfrm>
            <a:off x="-258583" y="838200"/>
            <a:ext cx="2547552" cy="6083300"/>
          </a:xfrm>
          <a:prstGeom prst="rect">
            <a:avLst/>
          </a:prstGeom>
        </p:spPr>
      </p:pic>
      <p:sp>
        <p:nvSpPr>
          <p:cNvPr id="7" name="Title 1">
            <a:extLst>
              <a:ext uri="{FF2B5EF4-FFF2-40B4-BE49-F238E27FC236}">
                <a16:creationId xmlns:a16="http://schemas.microsoft.com/office/drawing/2014/main" id="{16161DCF-2AA6-B843-3771-67140B43637D}"/>
              </a:ext>
            </a:extLst>
          </p:cNvPr>
          <p:cNvSpPr>
            <a:spLocks noGrp="1"/>
          </p:cNvSpPr>
          <p:nvPr>
            <p:ph type="title"/>
          </p:nvPr>
        </p:nvSpPr>
        <p:spPr>
          <a:xfrm>
            <a:off x="3028950" y="1501019"/>
            <a:ext cx="8299450" cy="1242181"/>
          </a:xfrm>
          <a:prstGeom prst="rect">
            <a:avLst/>
          </a:prstGeom>
        </p:spPr>
        <p:txBody>
          <a:bodyPr/>
          <a:lstStyle>
            <a:lvl1pPr>
              <a:defRPr>
                <a:solidFill>
                  <a:srgbClr val="4C116F"/>
                </a:solidFill>
              </a:defRPr>
            </a:lvl1pPr>
          </a:lstStyle>
          <a:p>
            <a:r>
              <a:rPr lang="en-US" dirty="0"/>
              <a:t>Click to edit Master title style</a:t>
            </a:r>
          </a:p>
        </p:txBody>
      </p:sp>
      <p:sp>
        <p:nvSpPr>
          <p:cNvPr id="8" name="Content Placeholder 2">
            <a:extLst>
              <a:ext uri="{FF2B5EF4-FFF2-40B4-BE49-F238E27FC236}">
                <a16:creationId xmlns:a16="http://schemas.microsoft.com/office/drawing/2014/main" id="{8C4FBD0D-E2E1-99A4-80EC-2EAAF02DB16D}"/>
              </a:ext>
            </a:extLst>
          </p:cNvPr>
          <p:cNvSpPr>
            <a:spLocks noGrp="1"/>
          </p:cNvSpPr>
          <p:nvPr>
            <p:ph sz="half" idx="1"/>
          </p:nvPr>
        </p:nvSpPr>
        <p:spPr>
          <a:xfrm>
            <a:off x="3020841" y="3086099"/>
            <a:ext cx="8299451" cy="32273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5822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217E7B-420E-E0D2-4D20-44DCFD76DA97}"/>
              </a:ext>
            </a:extLst>
          </p:cNvPr>
          <p:cNvSpPr/>
          <p:nvPr userDrawn="1"/>
        </p:nvSpPr>
        <p:spPr>
          <a:xfrm>
            <a:off x="-142875" y="784800"/>
            <a:ext cx="2671763" cy="6558975"/>
          </a:xfrm>
          <a:prstGeom prst="rect">
            <a:avLst/>
          </a:prstGeom>
          <a:solidFill>
            <a:srgbClr val="4C11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D9965AC-8FFA-9B01-92FD-9ABDEF48D004}"/>
              </a:ext>
            </a:extLst>
          </p:cNvPr>
          <p:cNvSpPr>
            <a:spLocks noGrp="1"/>
          </p:cNvSpPr>
          <p:nvPr>
            <p:ph type="title"/>
          </p:nvPr>
        </p:nvSpPr>
        <p:spPr>
          <a:xfrm>
            <a:off x="3028950" y="1501019"/>
            <a:ext cx="8299450" cy="1242181"/>
          </a:xfrm>
          <a:prstGeom prst="rect">
            <a:avLst/>
          </a:prstGeom>
        </p:spPr>
        <p:txBody>
          <a:bodyPr/>
          <a:lstStyle>
            <a:lvl1pPr>
              <a:defRPr>
                <a:solidFill>
                  <a:srgbClr val="4C116F"/>
                </a:solidFill>
              </a:defRPr>
            </a:lvl1pPr>
          </a:lstStyle>
          <a:p>
            <a:r>
              <a:rPr lang="en-US" dirty="0"/>
              <a:t>Click to edit Master title style</a:t>
            </a:r>
          </a:p>
        </p:txBody>
      </p:sp>
      <p:sp>
        <p:nvSpPr>
          <p:cNvPr id="5" name="Content Placeholder 2">
            <a:extLst>
              <a:ext uri="{FF2B5EF4-FFF2-40B4-BE49-F238E27FC236}">
                <a16:creationId xmlns:a16="http://schemas.microsoft.com/office/drawing/2014/main" id="{A42C9990-67F4-E7F4-196B-B9D7B0FD60C2}"/>
              </a:ext>
            </a:extLst>
          </p:cNvPr>
          <p:cNvSpPr>
            <a:spLocks noGrp="1"/>
          </p:cNvSpPr>
          <p:nvPr>
            <p:ph sz="half" idx="1"/>
          </p:nvPr>
        </p:nvSpPr>
        <p:spPr>
          <a:xfrm>
            <a:off x="3020841" y="3086099"/>
            <a:ext cx="8299451" cy="32273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black and white drawing of a person holding a microphone&#10;&#10;AI-generated content may be incorrect.">
            <a:extLst>
              <a:ext uri="{FF2B5EF4-FFF2-40B4-BE49-F238E27FC236}">
                <a16:creationId xmlns:a16="http://schemas.microsoft.com/office/drawing/2014/main" id="{F39E5223-ED04-6629-85BF-E63BCA643687}"/>
              </a:ext>
            </a:extLst>
          </p:cNvPr>
          <p:cNvPicPr>
            <a:picLocks noChangeAspect="1"/>
          </p:cNvPicPr>
          <p:nvPr userDrawn="1"/>
        </p:nvPicPr>
        <p:blipFill>
          <a:blip r:embed="rId2"/>
          <a:srcRect t="2430" r="24106" b="1"/>
          <a:stretch>
            <a:fillRect/>
          </a:stretch>
        </p:blipFill>
        <p:spPr>
          <a:xfrm>
            <a:off x="-4883150" y="784800"/>
            <a:ext cx="7412038" cy="22754004"/>
          </a:xfrm>
          <a:prstGeom prst="rect">
            <a:avLst/>
          </a:prstGeom>
        </p:spPr>
      </p:pic>
    </p:spTree>
    <p:extLst>
      <p:ext uri="{BB962C8B-B14F-4D97-AF65-F5344CB8AC3E}">
        <p14:creationId xmlns:p14="http://schemas.microsoft.com/office/powerpoint/2010/main" val="2511851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6492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2D770B-F2D8-C546-A2F9-B2E65E91DFAD}"/>
              </a:ext>
              <a:ext uri="{C183D7F6-B498-43B3-948B-1728B52AA6E4}">
                <adec:decorative xmlns:adec="http://schemas.microsoft.com/office/drawing/2017/decorative" val="0"/>
              </a:ext>
            </a:extLst>
          </p:cNvPr>
          <p:cNvPicPr>
            <a:picLocks noChangeAspect="1"/>
          </p:cNvPicPr>
          <p:nvPr userDrawn="1"/>
        </p:nvPicPr>
        <p:blipFill>
          <a:blip r:embed="rId2"/>
          <a:srcRect/>
          <a:stretch/>
        </p:blipFill>
        <p:spPr>
          <a:xfrm>
            <a:off x="10833" y="6093"/>
            <a:ext cx="12170334" cy="6845813"/>
          </a:xfrm>
          <a:prstGeom prst="rect">
            <a:avLst/>
          </a:prstGeom>
        </p:spPr>
      </p:pic>
      <p:sp>
        <p:nvSpPr>
          <p:cNvPr id="7" name="Subtitle 2">
            <a:extLst>
              <a:ext uri="{FF2B5EF4-FFF2-40B4-BE49-F238E27FC236}">
                <a16:creationId xmlns:a16="http://schemas.microsoft.com/office/drawing/2014/main" id="{60CF6CA8-1450-8446-9F6D-8280850D22F1}"/>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Rectangle 7">
            <a:extLst>
              <a:ext uri="{FF2B5EF4-FFF2-40B4-BE49-F238E27FC236}">
                <a16:creationId xmlns:a16="http://schemas.microsoft.com/office/drawing/2014/main" id="{8093BC89-B2AD-AD4F-B4D0-2AF8E3A219A7}"/>
              </a:ext>
            </a:extLst>
          </p:cNvPr>
          <p:cNvSpPr/>
          <p:nvPr userDrawn="1"/>
        </p:nvSpPr>
        <p:spPr>
          <a:xfrm>
            <a:off x="649539" y="3429000"/>
            <a:ext cx="6703761" cy="57150"/>
          </a:xfrm>
          <a:prstGeom prst="rect">
            <a:avLst/>
          </a:prstGeom>
          <a:gradFill>
            <a:gsLst>
              <a:gs pos="0">
                <a:schemeClr val="tx1"/>
              </a:gs>
              <a:gs pos="100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AACB2F82-BB0A-671F-BB0C-E2B1AAFBC1C9}"/>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9" name="Rectangle 8">
            <a:extLst>
              <a:ext uri="{FF2B5EF4-FFF2-40B4-BE49-F238E27FC236}">
                <a16:creationId xmlns:a16="http://schemas.microsoft.com/office/drawing/2014/main" id="{2F5BF79E-86E6-5ED7-7EBB-E88F285F14DB}"/>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pic>
        <p:nvPicPr>
          <p:cNvPr id="11" name="Picture 10" descr="A black and white logo&#10;&#10;AI-generated content may be incorrect.">
            <a:extLst>
              <a:ext uri="{FF2B5EF4-FFF2-40B4-BE49-F238E27FC236}">
                <a16:creationId xmlns:a16="http://schemas.microsoft.com/office/drawing/2014/main" id="{79DAC44D-54EF-A652-B14E-6172185A8D79}"/>
              </a:ext>
            </a:extLst>
          </p:cNvPr>
          <p:cNvPicPr>
            <a:picLocks noChangeAspect="1"/>
          </p:cNvPicPr>
          <p:nvPr userDrawn="1"/>
        </p:nvPicPr>
        <p:blipFill>
          <a:blip r:embed="rId3"/>
          <a:srcRect b="17187"/>
          <a:stretch>
            <a:fillRect/>
          </a:stretch>
        </p:blipFill>
        <p:spPr>
          <a:xfrm>
            <a:off x="223839" y="108132"/>
            <a:ext cx="1576386" cy="559477"/>
          </a:xfrm>
          <a:prstGeom prst="rect">
            <a:avLst/>
          </a:prstGeom>
        </p:spPr>
      </p:pic>
    </p:spTree>
    <p:extLst>
      <p:ext uri="{BB962C8B-B14F-4D97-AF65-F5344CB8AC3E}">
        <p14:creationId xmlns:p14="http://schemas.microsoft.com/office/powerpoint/2010/main" val="1101797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2D770B-F2D8-C546-A2F9-B2E65E91DFAD}"/>
              </a:ext>
            </a:extLst>
          </p:cNvPr>
          <p:cNvPicPr>
            <a:picLocks noChangeAspect="1"/>
          </p:cNvPicPr>
          <p:nvPr userDrawn="1"/>
        </p:nvPicPr>
        <p:blipFill>
          <a:blip r:embed="rId2"/>
          <a:srcRect/>
          <a:stretch/>
        </p:blipFill>
        <p:spPr>
          <a:xfrm>
            <a:off x="5419" y="3048"/>
            <a:ext cx="12181162" cy="6851904"/>
          </a:xfrm>
          <a:prstGeom prst="rect">
            <a:avLst/>
          </a:prstGeom>
        </p:spPr>
      </p:pic>
      <p:sp>
        <p:nvSpPr>
          <p:cNvPr id="7" name="Subtitle 2">
            <a:extLst>
              <a:ext uri="{FF2B5EF4-FFF2-40B4-BE49-F238E27FC236}">
                <a16:creationId xmlns:a16="http://schemas.microsoft.com/office/drawing/2014/main" id="{95EE0D2D-4A16-EC46-8707-2D69B23E6B09}"/>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itle 1">
            <a:extLst>
              <a:ext uri="{FF2B5EF4-FFF2-40B4-BE49-F238E27FC236}">
                <a16:creationId xmlns:a16="http://schemas.microsoft.com/office/drawing/2014/main" id="{203E7FFF-F6AB-165B-3A14-C84B1A0066A3}"/>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9" name="Rectangle 8">
            <a:extLst>
              <a:ext uri="{FF2B5EF4-FFF2-40B4-BE49-F238E27FC236}">
                <a16:creationId xmlns:a16="http://schemas.microsoft.com/office/drawing/2014/main" id="{94799673-D396-7166-DB0D-B49AD6DD0726}"/>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pic>
        <p:nvPicPr>
          <p:cNvPr id="11" name="Picture 10" descr="A black and white logo&#10;&#10;AI-generated content may be incorrect.">
            <a:extLst>
              <a:ext uri="{FF2B5EF4-FFF2-40B4-BE49-F238E27FC236}">
                <a16:creationId xmlns:a16="http://schemas.microsoft.com/office/drawing/2014/main" id="{85ECF214-5065-D318-FB59-D25BDC29E003}"/>
              </a:ext>
            </a:extLst>
          </p:cNvPr>
          <p:cNvPicPr>
            <a:picLocks noChangeAspect="1"/>
          </p:cNvPicPr>
          <p:nvPr userDrawn="1"/>
        </p:nvPicPr>
        <p:blipFill>
          <a:blip r:embed="rId3"/>
          <a:srcRect b="17187"/>
          <a:stretch>
            <a:fillRect/>
          </a:stretch>
        </p:blipFill>
        <p:spPr>
          <a:xfrm>
            <a:off x="223839" y="108132"/>
            <a:ext cx="1576386" cy="559477"/>
          </a:xfrm>
          <a:prstGeom prst="rect">
            <a:avLst/>
          </a:prstGeom>
        </p:spPr>
      </p:pic>
    </p:spTree>
    <p:extLst>
      <p:ext uri="{BB962C8B-B14F-4D97-AF65-F5344CB8AC3E}">
        <p14:creationId xmlns:p14="http://schemas.microsoft.com/office/powerpoint/2010/main" val="2886785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Title Slide 5">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80DEE04-7550-E340-B968-DD8B3687E931}"/>
              </a:ext>
            </a:extLst>
          </p:cNvPr>
          <p:cNvPicPr>
            <a:picLocks noChangeAspect="1"/>
          </p:cNvPicPr>
          <p:nvPr userDrawn="1"/>
        </p:nvPicPr>
        <p:blipFill>
          <a:blip r:embed="rId2"/>
          <a:srcRect/>
          <a:stretch/>
        </p:blipFill>
        <p:spPr>
          <a:xfrm>
            <a:off x="0" y="0"/>
            <a:ext cx="12192000" cy="6858000"/>
          </a:xfrm>
          <a:prstGeom prst="rect">
            <a:avLst/>
          </a:prstGeom>
        </p:spPr>
      </p:pic>
      <p:sp>
        <p:nvSpPr>
          <p:cNvPr id="7" name="Subtitle 2">
            <a:extLst>
              <a:ext uri="{FF2B5EF4-FFF2-40B4-BE49-F238E27FC236}">
                <a16:creationId xmlns:a16="http://schemas.microsoft.com/office/drawing/2014/main" id="{60CF6CA8-1450-8446-9F6D-8280850D22F1}"/>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itle 1">
            <a:extLst>
              <a:ext uri="{FF2B5EF4-FFF2-40B4-BE49-F238E27FC236}">
                <a16:creationId xmlns:a16="http://schemas.microsoft.com/office/drawing/2014/main" id="{572C289F-B40A-DDDA-2F6C-FDB8D11BD345}"/>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5" name="Rectangle 4">
            <a:extLst>
              <a:ext uri="{FF2B5EF4-FFF2-40B4-BE49-F238E27FC236}">
                <a16:creationId xmlns:a16="http://schemas.microsoft.com/office/drawing/2014/main" id="{E900E884-8EF9-0EF0-B853-C571409BBC3D}"/>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pic>
        <p:nvPicPr>
          <p:cNvPr id="11" name="Picture 10" descr="A black and white logo&#10;&#10;AI-generated content may be incorrect.">
            <a:extLst>
              <a:ext uri="{FF2B5EF4-FFF2-40B4-BE49-F238E27FC236}">
                <a16:creationId xmlns:a16="http://schemas.microsoft.com/office/drawing/2014/main" id="{C4D043BC-52CB-F2BF-8EC8-24BF394CA170}"/>
              </a:ext>
            </a:extLst>
          </p:cNvPr>
          <p:cNvPicPr>
            <a:picLocks noChangeAspect="1"/>
          </p:cNvPicPr>
          <p:nvPr userDrawn="1"/>
        </p:nvPicPr>
        <p:blipFill>
          <a:blip r:embed="rId3"/>
          <a:srcRect b="17187"/>
          <a:stretch>
            <a:fillRect/>
          </a:stretch>
        </p:blipFill>
        <p:spPr>
          <a:xfrm>
            <a:off x="223839" y="108132"/>
            <a:ext cx="1576386" cy="559477"/>
          </a:xfrm>
          <a:prstGeom prst="rect">
            <a:avLst/>
          </a:prstGeom>
        </p:spPr>
      </p:pic>
    </p:spTree>
    <p:extLst>
      <p:ext uri="{BB962C8B-B14F-4D97-AF65-F5344CB8AC3E}">
        <p14:creationId xmlns:p14="http://schemas.microsoft.com/office/powerpoint/2010/main" val="24649550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_Title Slide 5">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5B8E77-6204-0241-8EDC-46C996533F3B}"/>
              </a:ext>
            </a:extLst>
          </p:cNvPr>
          <p:cNvPicPr>
            <a:picLocks noChangeAspect="1"/>
          </p:cNvPicPr>
          <p:nvPr userDrawn="1"/>
        </p:nvPicPr>
        <p:blipFill>
          <a:blip r:embed="rId2"/>
          <a:srcRect/>
          <a:stretch/>
        </p:blipFill>
        <p:spPr>
          <a:xfrm>
            <a:off x="0" y="0"/>
            <a:ext cx="12192000" cy="6858000"/>
          </a:xfrm>
          <a:prstGeom prst="rect">
            <a:avLst/>
          </a:prstGeom>
        </p:spPr>
      </p:pic>
      <p:sp>
        <p:nvSpPr>
          <p:cNvPr id="7" name="Subtitle 2">
            <a:extLst>
              <a:ext uri="{FF2B5EF4-FFF2-40B4-BE49-F238E27FC236}">
                <a16:creationId xmlns:a16="http://schemas.microsoft.com/office/drawing/2014/main" id="{60CF6CA8-1450-8446-9F6D-8280850D22F1}"/>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itle 1">
            <a:extLst>
              <a:ext uri="{FF2B5EF4-FFF2-40B4-BE49-F238E27FC236}">
                <a16:creationId xmlns:a16="http://schemas.microsoft.com/office/drawing/2014/main" id="{6B8B5A03-4538-4EBE-239B-7B706E51C8D7}"/>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9" name="Rectangle 8">
            <a:extLst>
              <a:ext uri="{FF2B5EF4-FFF2-40B4-BE49-F238E27FC236}">
                <a16:creationId xmlns:a16="http://schemas.microsoft.com/office/drawing/2014/main" id="{384F3E0C-3399-80A9-B46C-DC49C4554361}"/>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pic>
        <p:nvPicPr>
          <p:cNvPr id="11" name="Picture 10" descr="A black and white logo&#10;&#10;AI-generated content may be incorrect.">
            <a:extLst>
              <a:ext uri="{FF2B5EF4-FFF2-40B4-BE49-F238E27FC236}">
                <a16:creationId xmlns:a16="http://schemas.microsoft.com/office/drawing/2014/main" id="{3AF2B276-0FE9-E4B9-EED8-2C463C711C11}"/>
              </a:ext>
            </a:extLst>
          </p:cNvPr>
          <p:cNvPicPr>
            <a:picLocks noChangeAspect="1"/>
          </p:cNvPicPr>
          <p:nvPr userDrawn="1"/>
        </p:nvPicPr>
        <p:blipFill>
          <a:blip r:embed="rId3"/>
          <a:srcRect b="17187"/>
          <a:stretch>
            <a:fillRect/>
          </a:stretch>
        </p:blipFill>
        <p:spPr>
          <a:xfrm>
            <a:off x="223839" y="108132"/>
            <a:ext cx="1576386" cy="559477"/>
          </a:xfrm>
          <a:prstGeom prst="rect">
            <a:avLst/>
          </a:prstGeom>
        </p:spPr>
      </p:pic>
    </p:spTree>
    <p:extLst>
      <p:ext uri="{BB962C8B-B14F-4D97-AF65-F5344CB8AC3E}">
        <p14:creationId xmlns:p14="http://schemas.microsoft.com/office/powerpoint/2010/main" val="803158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5_Title Slide 5">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7099B9B-AE3B-FB48-ACD2-BFE507B2E2BC}"/>
              </a:ext>
            </a:extLst>
          </p:cNvPr>
          <p:cNvPicPr>
            <a:picLocks noChangeAspect="1"/>
          </p:cNvPicPr>
          <p:nvPr userDrawn="1"/>
        </p:nvPicPr>
        <p:blipFill>
          <a:blip r:embed="rId2"/>
          <a:srcRect/>
          <a:stretch/>
        </p:blipFill>
        <p:spPr>
          <a:xfrm>
            <a:off x="0" y="0"/>
            <a:ext cx="12192000" cy="6858000"/>
          </a:xfrm>
          <a:prstGeom prst="rect">
            <a:avLst/>
          </a:prstGeom>
        </p:spPr>
      </p:pic>
      <p:sp>
        <p:nvSpPr>
          <p:cNvPr id="7" name="Subtitle 2">
            <a:extLst>
              <a:ext uri="{FF2B5EF4-FFF2-40B4-BE49-F238E27FC236}">
                <a16:creationId xmlns:a16="http://schemas.microsoft.com/office/drawing/2014/main" id="{60CF6CA8-1450-8446-9F6D-8280850D22F1}"/>
              </a:ext>
            </a:extLst>
          </p:cNvPr>
          <p:cNvSpPr>
            <a:spLocks noGrp="1"/>
          </p:cNvSpPr>
          <p:nvPr>
            <p:ph type="subTitle" idx="1"/>
          </p:nvPr>
        </p:nvSpPr>
        <p:spPr>
          <a:xfrm>
            <a:off x="582863" y="3538538"/>
            <a:ext cx="5513137" cy="1655762"/>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itle 1">
            <a:extLst>
              <a:ext uri="{FF2B5EF4-FFF2-40B4-BE49-F238E27FC236}">
                <a16:creationId xmlns:a16="http://schemas.microsoft.com/office/drawing/2014/main" id="{9F65E463-9999-19DD-A504-24D474DDF0A2}"/>
              </a:ext>
            </a:extLst>
          </p:cNvPr>
          <p:cNvSpPr>
            <a:spLocks noGrp="1"/>
          </p:cNvSpPr>
          <p:nvPr>
            <p:ph type="ctrTitle"/>
          </p:nvPr>
        </p:nvSpPr>
        <p:spPr>
          <a:xfrm>
            <a:off x="516189" y="1041400"/>
            <a:ext cx="5579811" cy="2387600"/>
          </a:xfrm>
          <a:prstGeom prst="rect">
            <a:avLst/>
          </a:prstGeom>
        </p:spPr>
        <p:txBody>
          <a:bodyPr anchor="b"/>
          <a:lstStyle>
            <a:lvl1pPr algn="l">
              <a:defRPr sz="6000">
                <a:solidFill>
                  <a:srgbClr val="4C116F"/>
                </a:solidFill>
              </a:defRPr>
            </a:lvl1pPr>
          </a:lstStyle>
          <a:p>
            <a:r>
              <a:rPr lang="en-US" dirty="0"/>
              <a:t>Click to edit Master title style</a:t>
            </a:r>
          </a:p>
        </p:txBody>
      </p:sp>
      <p:sp>
        <p:nvSpPr>
          <p:cNvPr id="5" name="Rectangle 4">
            <a:extLst>
              <a:ext uri="{FF2B5EF4-FFF2-40B4-BE49-F238E27FC236}">
                <a16:creationId xmlns:a16="http://schemas.microsoft.com/office/drawing/2014/main" id="{F4284B37-BD4F-0E70-3175-81AB59E7BDFB}"/>
              </a:ext>
            </a:extLst>
          </p:cNvPr>
          <p:cNvSpPr/>
          <p:nvPr userDrawn="1"/>
        </p:nvSpPr>
        <p:spPr>
          <a:xfrm>
            <a:off x="649539" y="3429000"/>
            <a:ext cx="5446461" cy="63500"/>
          </a:xfrm>
          <a:prstGeom prst="rect">
            <a:avLst/>
          </a:prstGeom>
          <a:gradFill>
            <a:gsLst>
              <a:gs pos="0">
                <a:srgbClr val="FFB401"/>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C116F"/>
              </a:solidFill>
            </a:endParaRPr>
          </a:p>
        </p:txBody>
      </p:sp>
      <p:pic>
        <p:nvPicPr>
          <p:cNvPr id="11" name="Picture 10" descr="A black and white logo&#10;&#10;AI-generated content may be incorrect.">
            <a:extLst>
              <a:ext uri="{FF2B5EF4-FFF2-40B4-BE49-F238E27FC236}">
                <a16:creationId xmlns:a16="http://schemas.microsoft.com/office/drawing/2014/main" id="{6160CB2E-24C3-6045-6823-37947DFADA50}"/>
              </a:ext>
            </a:extLst>
          </p:cNvPr>
          <p:cNvPicPr>
            <a:picLocks noChangeAspect="1"/>
          </p:cNvPicPr>
          <p:nvPr userDrawn="1"/>
        </p:nvPicPr>
        <p:blipFill>
          <a:blip r:embed="rId3"/>
          <a:srcRect b="17187"/>
          <a:stretch>
            <a:fillRect/>
          </a:stretch>
        </p:blipFill>
        <p:spPr>
          <a:xfrm>
            <a:off x="223839" y="108132"/>
            <a:ext cx="1576386" cy="559477"/>
          </a:xfrm>
          <a:prstGeom prst="rect">
            <a:avLst/>
          </a:prstGeom>
        </p:spPr>
      </p:pic>
    </p:spTree>
    <p:extLst>
      <p:ext uri="{BB962C8B-B14F-4D97-AF65-F5344CB8AC3E}">
        <p14:creationId xmlns:p14="http://schemas.microsoft.com/office/powerpoint/2010/main" val="1551491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ent Slide - 2 Imag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9143162-F552-CB48-9C75-5FB245765F77}"/>
              </a:ext>
            </a:extLst>
          </p:cNvPr>
          <p:cNvSpPr>
            <a:spLocks noGrp="1"/>
          </p:cNvSpPr>
          <p:nvPr>
            <p:ph type="pic" idx="1"/>
          </p:nvPr>
        </p:nvSpPr>
        <p:spPr>
          <a:xfrm>
            <a:off x="6096000" y="0"/>
            <a:ext cx="6305550" cy="6857999"/>
          </a:xfrm>
          <a:prstGeom prst="rect">
            <a:avLst/>
          </a:prstGeo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 name="Picture Placeholder 2">
            <a:extLst>
              <a:ext uri="{FF2B5EF4-FFF2-40B4-BE49-F238E27FC236}">
                <a16:creationId xmlns:a16="http://schemas.microsoft.com/office/drawing/2014/main" id="{D64D1AB1-782E-AA4A-A562-331C4152DC89}"/>
              </a:ext>
            </a:extLst>
          </p:cNvPr>
          <p:cNvSpPr>
            <a:spLocks noGrp="1"/>
          </p:cNvSpPr>
          <p:nvPr>
            <p:ph type="pic" idx="10"/>
          </p:nvPr>
        </p:nvSpPr>
        <p:spPr>
          <a:xfrm>
            <a:off x="6350" y="0"/>
            <a:ext cx="6089650" cy="6857999"/>
          </a:xfrm>
          <a:prstGeom prst="rect">
            <a:avLst/>
          </a:prstGeo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37412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Split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69470-51E9-FB44-A061-A3D5D7B9F6BD}"/>
              </a:ext>
            </a:extLst>
          </p:cNvPr>
          <p:cNvSpPr/>
          <p:nvPr userDrawn="1"/>
        </p:nvSpPr>
        <p:spPr>
          <a:xfrm>
            <a:off x="6102350" y="0"/>
            <a:ext cx="6096000" cy="6858000"/>
          </a:xfrm>
          <a:prstGeom prst="rect">
            <a:avLst/>
          </a:prstGeom>
          <a:solidFill>
            <a:srgbClr val="A2AAAD">
              <a:alpha val="2621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805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1_Split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69470-51E9-FB44-A061-A3D5D7B9F6BD}"/>
              </a:ext>
            </a:extLst>
          </p:cNvPr>
          <p:cNvSpPr/>
          <p:nvPr userDrawn="1"/>
        </p:nvSpPr>
        <p:spPr>
          <a:xfrm>
            <a:off x="6102350" y="0"/>
            <a:ext cx="6096000" cy="6858000"/>
          </a:xfrm>
          <a:prstGeom prst="rect">
            <a:avLst/>
          </a:prstGeom>
          <a:solidFill>
            <a:srgbClr val="4C11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46742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Slide - Black to Purple">
    <p:bg>
      <p:bgPr>
        <a:solidFill>
          <a:srgbClr val="A2AAAD">
            <a:alpha val="26000"/>
          </a:srgb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1361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Slide - Purple">
    <p:bg>
      <p:bgPr>
        <a:solidFill>
          <a:srgbClr val="4C116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63405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Slide - Gray">
    <p:bg>
      <p:bgPr>
        <a:gradFill flip="none" rotWithShape="1">
          <a:gsLst>
            <a:gs pos="100000">
              <a:srgbClr val="A2AAAD">
                <a:alpha val="25694"/>
              </a:srgbClr>
            </a:gs>
            <a:gs pos="0">
              <a:schemeClr val="tx1">
                <a:alpha val="0"/>
              </a:schemeClr>
            </a:gs>
          </a:gsLst>
          <a:lin ang="5400000" scaled="0"/>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95531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Slide - Black">
    <p:bg>
      <p:bgPr>
        <a:gradFill>
          <a:gsLst>
            <a:gs pos="0">
              <a:srgbClr val="4C116F"/>
            </a:gs>
            <a:gs pos="100000">
              <a:srgbClr val="1C052A"/>
            </a:gs>
          </a:gsLst>
          <a:lin ang="54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7784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1DF7B0-2453-B5C5-FA20-E3C53A36027D}"/>
              </a:ext>
            </a:extLst>
          </p:cNvPr>
          <p:cNvSpPr/>
          <p:nvPr userDrawn="1"/>
        </p:nvSpPr>
        <p:spPr>
          <a:xfrm>
            <a:off x="0" y="0"/>
            <a:ext cx="12192000" cy="794582"/>
          </a:xfrm>
          <a:prstGeom prst="rect">
            <a:avLst/>
          </a:prstGeom>
          <a:gradFill flip="none" rotWithShape="1">
            <a:gsLst>
              <a:gs pos="0">
                <a:schemeClr val="bg1"/>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logo&#10;&#10;AI-generated content may be incorrect.">
            <a:extLst>
              <a:ext uri="{FF2B5EF4-FFF2-40B4-BE49-F238E27FC236}">
                <a16:creationId xmlns:a16="http://schemas.microsoft.com/office/drawing/2014/main" id="{B827B4F4-CD70-1D93-6423-6318A995A0B9}"/>
              </a:ext>
            </a:extLst>
          </p:cNvPr>
          <p:cNvPicPr>
            <a:picLocks noChangeAspect="1"/>
          </p:cNvPicPr>
          <p:nvPr userDrawn="1"/>
        </p:nvPicPr>
        <p:blipFill>
          <a:blip r:embed="rId24"/>
          <a:srcRect b="17187"/>
          <a:stretch>
            <a:fillRect/>
          </a:stretch>
        </p:blipFill>
        <p:spPr>
          <a:xfrm>
            <a:off x="223839" y="108132"/>
            <a:ext cx="1576386" cy="559477"/>
          </a:xfrm>
          <a:prstGeom prst="rect">
            <a:avLst/>
          </a:prstGeom>
        </p:spPr>
      </p:pic>
    </p:spTree>
    <p:extLst>
      <p:ext uri="{BB962C8B-B14F-4D97-AF65-F5344CB8AC3E}">
        <p14:creationId xmlns:p14="http://schemas.microsoft.com/office/powerpoint/2010/main" val="3776459668"/>
      </p:ext>
    </p:extLst>
  </p:cSld>
  <p:clrMap bg1="lt1" tx1="dk1" bg2="lt2" tx2="dk2" accent1="accent1" accent2="accent2" accent3="accent3" accent4="accent4" accent5="accent5" accent6="accent6" hlink="hlink" folHlink="folHlink"/>
  <p:sldLayoutIdLst>
    <p:sldLayoutId id="2147483706" r:id="rId1"/>
    <p:sldLayoutId id="2147483705" r:id="rId2"/>
    <p:sldLayoutId id="2147483714" r:id="rId3"/>
    <p:sldLayoutId id="2147483715" r:id="rId4"/>
    <p:sldLayoutId id="2147483718" r:id="rId5"/>
    <p:sldLayoutId id="2147483700" r:id="rId6"/>
    <p:sldLayoutId id="2147483701" r:id="rId7"/>
    <p:sldLayoutId id="2147483719" r:id="rId8"/>
    <p:sldLayoutId id="2147483720" r:id="rId9"/>
    <p:sldLayoutId id="2147483655" r:id="rId10"/>
    <p:sldLayoutId id="2147483669" r:id="rId11"/>
    <p:sldLayoutId id="2147483667" r:id="rId12"/>
    <p:sldLayoutId id="2147483710" r:id="rId13"/>
    <p:sldLayoutId id="2147483712" r:id="rId14"/>
    <p:sldLayoutId id="2147483713" r:id="rId15"/>
    <p:sldLayoutId id="2147483670" r:id="rId16"/>
    <p:sldLayoutId id="2147483666" r:id="rId17"/>
    <p:sldLayoutId id="2147483721" r:id="rId18"/>
    <p:sldLayoutId id="2147483708" r:id="rId19"/>
    <p:sldLayoutId id="2147483662" r:id="rId20"/>
    <p:sldLayoutId id="2147483664" r:id="rId21"/>
    <p:sldLayoutId id="2147483665" r:id="rId22"/>
  </p:sldLayoutIdLst>
  <p:txStyles>
    <p:titleStyle>
      <a:lvl1pPr algn="l" defTabSz="914400" rtl="0" eaLnBrk="1" latinLnBrk="0" hangingPunct="1">
        <a:lnSpc>
          <a:spcPts val="5200"/>
        </a:lnSpc>
        <a:spcBef>
          <a:spcPct val="0"/>
        </a:spcBef>
        <a:buNone/>
        <a:defRPr sz="4400" b="1" i="0" kern="1200">
          <a:solidFill>
            <a:schemeClr val="tx1"/>
          </a:solidFill>
          <a:latin typeface="Public Sans Black" pitchFamily="2" charset="77"/>
          <a:ea typeface="+mj-ea"/>
          <a:cs typeface="+mj-cs"/>
        </a:defRPr>
      </a:lvl1pPr>
    </p:titleStyle>
    <p:bodyStyle>
      <a:lvl1pPr marL="228600" indent="-228600" algn="l" defTabSz="914400" rtl="0" eaLnBrk="1" latinLnBrk="0" hangingPunct="1">
        <a:lnSpc>
          <a:spcPct val="90000"/>
        </a:lnSpc>
        <a:spcBef>
          <a:spcPts val="1000"/>
        </a:spcBef>
        <a:buFontTx/>
        <a:buBlip>
          <a:blip r:embed="rId25"/>
        </a:buBlip>
        <a:defRPr sz="2800" b="1" i="0" kern="1200">
          <a:solidFill>
            <a:schemeClr val="tx1"/>
          </a:solidFill>
          <a:latin typeface="Public Sans" pitchFamily="2" charset="77"/>
          <a:ea typeface="+mn-ea"/>
          <a:cs typeface="+mn-cs"/>
        </a:defRPr>
      </a:lvl1pPr>
      <a:lvl2pPr marL="685800" indent="-228600" algn="l" defTabSz="914400" rtl="0" eaLnBrk="1" latinLnBrk="0" hangingPunct="1">
        <a:lnSpc>
          <a:spcPct val="90000"/>
        </a:lnSpc>
        <a:spcBef>
          <a:spcPts val="500"/>
        </a:spcBef>
        <a:buFontTx/>
        <a:buBlip>
          <a:blip r:embed="rId25"/>
        </a:buBlip>
        <a:defRPr sz="2400" b="1" i="0" kern="1200">
          <a:solidFill>
            <a:schemeClr val="tx1"/>
          </a:solidFill>
          <a:latin typeface="Public Sans SemiBold" pitchFamily="2" charset="77"/>
          <a:ea typeface="+mn-ea"/>
          <a:cs typeface="+mn-cs"/>
        </a:defRPr>
      </a:lvl2pPr>
      <a:lvl3pPr marL="1143000" indent="-228600" algn="l" defTabSz="914400" rtl="0" eaLnBrk="1" latinLnBrk="0" hangingPunct="1">
        <a:lnSpc>
          <a:spcPct val="90000"/>
        </a:lnSpc>
        <a:spcBef>
          <a:spcPts val="500"/>
        </a:spcBef>
        <a:buFontTx/>
        <a:buBlip>
          <a:blip r:embed="rId25"/>
        </a:buBlip>
        <a:defRPr sz="2000" b="1" i="1" kern="1200">
          <a:solidFill>
            <a:schemeClr val="tx1"/>
          </a:solidFill>
          <a:latin typeface="Public Sans SemiBold" pitchFamily="2" charset="77"/>
          <a:ea typeface="+mn-ea"/>
          <a:cs typeface="+mn-cs"/>
        </a:defRPr>
      </a:lvl3pPr>
      <a:lvl4pPr marL="1600200" indent="-228600" algn="l" defTabSz="914400" rtl="0" eaLnBrk="1" latinLnBrk="0" hangingPunct="1">
        <a:lnSpc>
          <a:spcPct val="90000"/>
        </a:lnSpc>
        <a:spcBef>
          <a:spcPts val="500"/>
        </a:spcBef>
        <a:buFontTx/>
        <a:buBlip>
          <a:blip r:embed="rId25"/>
        </a:buBlip>
        <a:defRPr sz="1800" b="1" i="0" kern="1200">
          <a:solidFill>
            <a:schemeClr val="tx1"/>
          </a:solidFill>
          <a:latin typeface="Public Sans SemiBold" pitchFamily="2" charset="77"/>
          <a:ea typeface="+mn-ea"/>
          <a:cs typeface="+mn-cs"/>
        </a:defRPr>
      </a:lvl4pPr>
      <a:lvl5pPr marL="2057400" indent="-228600" algn="l" defTabSz="914400" rtl="0" eaLnBrk="1" latinLnBrk="0" hangingPunct="1">
        <a:lnSpc>
          <a:spcPct val="90000"/>
        </a:lnSpc>
        <a:spcBef>
          <a:spcPts val="500"/>
        </a:spcBef>
        <a:buFontTx/>
        <a:buBlip>
          <a:blip r:embed="rId25"/>
        </a:buBlip>
        <a:defRPr sz="1800" b="0" i="1" kern="1200">
          <a:solidFill>
            <a:schemeClr val="tx1"/>
          </a:solidFill>
          <a:latin typeface="Public Sans Medium"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epa.gov/eco-research/level-iii-and-iv-ecoregions-continental-united-states"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5067/MODIS/MOD13A1.061" TargetMode="External"/><Relationship Id="rId7" Type="http://schemas.openxmlformats.org/officeDocument/2006/relationships/hyperlink" Target="https://ncwf.org/blog/sandhills/" TargetMode="External"/><Relationship Id="rId2" Type="http://schemas.openxmlformats.org/officeDocument/2006/relationships/hyperlink" Target="https://doi.org/10.5067/MODIS/MOD11A1.061" TargetMode="External"/><Relationship Id="rId1" Type="http://schemas.openxmlformats.org/officeDocument/2006/relationships/slideLayout" Target="../slideLayouts/slideLayout6.xml"/><Relationship Id="rId6" Type="http://schemas.openxmlformats.org/officeDocument/2006/relationships/hyperlink" Target="https://www.epa.gov/eco-research/level-iii-and-iv-ecoregions-continental-united-states" TargetMode="External"/><Relationship Id="rId5" Type="http://schemas.openxmlformats.org/officeDocument/2006/relationships/hyperlink" Target="https://srs4158clemson.blogspot.com/2011/11/native-seed-collection-regions-map.html" TargetMode="External"/><Relationship Id="rId4" Type="http://schemas.openxmlformats.org/officeDocument/2006/relationships/hyperlink" Target="https://research.fs.usda.gov/treesearch/4766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7986B-4ACE-9E41-AB5A-3BD94DAB48A4}"/>
              </a:ext>
            </a:extLst>
          </p:cNvPr>
          <p:cNvSpPr>
            <a:spLocks noGrp="1"/>
          </p:cNvSpPr>
          <p:nvPr>
            <p:ph type="ctrTitle"/>
          </p:nvPr>
        </p:nvSpPr>
        <p:spPr>
          <a:xfrm>
            <a:off x="516189" y="1041400"/>
            <a:ext cx="11296583" cy="2387600"/>
          </a:xfrm>
        </p:spPr>
        <p:txBody>
          <a:bodyPr lIns="91440" tIns="45720" rIns="91440" bIns="45720" anchor="b"/>
          <a:lstStyle/>
          <a:p>
            <a:r>
              <a:rPr lang="en-US" sz="5400" dirty="0">
                <a:latin typeface="Public Sans Black"/>
              </a:rPr>
              <a:t>Investigating Uneven Surface Heating in the Carolina Sandhills Region</a:t>
            </a:r>
          </a:p>
        </p:txBody>
      </p:sp>
      <p:sp>
        <p:nvSpPr>
          <p:cNvPr id="3" name="Subtitle 2">
            <a:extLst>
              <a:ext uri="{FF2B5EF4-FFF2-40B4-BE49-F238E27FC236}">
                <a16:creationId xmlns:a16="http://schemas.microsoft.com/office/drawing/2014/main" id="{3B5AA068-C9AE-6642-8C79-5E104D601D77}"/>
              </a:ext>
            </a:extLst>
          </p:cNvPr>
          <p:cNvSpPr>
            <a:spLocks noGrp="1"/>
          </p:cNvSpPr>
          <p:nvPr>
            <p:ph type="subTitle" idx="1"/>
          </p:nvPr>
        </p:nvSpPr>
        <p:spPr/>
        <p:txBody>
          <a:bodyPr lIns="91440" tIns="45720" rIns="91440" bIns="45720" anchor="t"/>
          <a:lstStyle/>
          <a:p>
            <a:r>
              <a:rPr lang="en-US" dirty="0">
                <a:latin typeface="Public Sans"/>
              </a:rPr>
              <a:t>Cameron Gilbert</a:t>
            </a:r>
          </a:p>
        </p:txBody>
      </p:sp>
    </p:spTree>
    <p:extLst>
      <p:ext uri="{BB962C8B-B14F-4D97-AF65-F5344CB8AC3E}">
        <p14:creationId xmlns:p14="http://schemas.microsoft.com/office/powerpoint/2010/main" val="260132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A679A2-3CE3-1238-1B99-26D93ABED587}"/>
              </a:ext>
            </a:extLst>
          </p:cNvPr>
          <p:cNvSpPr txBox="1"/>
          <p:nvPr/>
        </p:nvSpPr>
        <p:spPr>
          <a:xfrm>
            <a:off x="1582479" y="2505670"/>
            <a:ext cx="9027042" cy="923330"/>
          </a:xfrm>
          <a:prstGeom prst="rect">
            <a:avLst/>
          </a:prstGeom>
          <a:noFill/>
        </p:spPr>
        <p:txBody>
          <a:bodyPr wrap="square" rtlCol="0">
            <a:spAutoFit/>
          </a:bodyPr>
          <a:lstStyle/>
          <a:p>
            <a:r>
              <a:rPr lang="en-US" sz="5400" dirty="0">
                <a:solidFill>
                  <a:schemeClr val="bg1"/>
                </a:solidFill>
                <a:latin typeface="Public Sans Black"/>
              </a:rPr>
              <a:t>Background</a:t>
            </a:r>
            <a:endParaRPr lang="en-US" sz="5400" dirty="0">
              <a:solidFill>
                <a:schemeClr val="bg1"/>
              </a:solidFill>
            </a:endParaRPr>
          </a:p>
        </p:txBody>
      </p:sp>
    </p:spTree>
    <p:extLst>
      <p:ext uri="{BB962C8B-B14F-4D97-AF65-F5344CB8AC3E}">
        <p14:creationId xmlns:p14="http://schemas.microsoft.com/office/powerpoint/2010/main" val="2254019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9684E-7FA2-954B-B43C-367D5742FFA3}"/>
              </a:ext>
            </a:extLst>
          </p:cNvPr>
          <p:cNvSpPr>
            <a:spLocks noGrp="1"/>
          </p:cNvSpPr>
          <p:nvPr>
            <p:ph type="title"/>
          </p:nvPr>
        </p:nvSpPr>
        <p:spPr>
          <a:xfrm>
            <a:off x="542159" y="929519"/>
            <a:ext cx="10786241" cy="896106"/>
          </a:xfrm>
        </p:spPr>
        <p:txBody>
          <a:bodyPr lIns="91440" tIns="45720" rIns="91440" bIns="45720">
            <a:normAutofit/>
          </a:bodyPr>
          <a:lstStyle/>
          <a:p>
            <a:r>
              <a:rPr lang="en-US"/>
              <a:t>Background</a:t>
            </a:r>
            <a:endParaRPr lang="en-US" dirty="0"/>
          </a:p>
        </p:txBody>
      </p:sp>
      <p:sp>
        <p:nvSpPr>
          <p:cNvPr id="10" name="Content Placeholder 2">
            <a:extLst>
              <a:ext uri="{FF2B5EF4-FFF2-40B4-BE49-F238E27FC236}">
                <a16:creationId xmlns:a16="http://schemas.microsoft.com/office/drawing/2014/main" id="{FF0DA43F-D6D4-B84A-5793-3719ED7A3D30}"/>
              </a:ext>
            </a:extLst>
          </p:cNvPr>
          <p:cNvSpPr>
            <a:spLocks noGrp="1"/>
          </p:cNvSpPr>
          <p:nvPr>
            <p:ph sz="half" idx="1"/>
          </p:nvPr>
        </p:nvSpPr>
        <p:spPr>
          <a:xfrm>
            <a:off x="838200" y="1825625"/>
            <a:ext cx="5181600" cy="4351338"/>
          </a:xfrm>
        </p:spPr>
        <p:txBody>
          <a:bodyPr>
            <a:normAutofit/>
          </a:bodyPr>
          <a:lstStyle/>
          <a:p>
            <a:r>
              <a:rPr lang="en-US" dirty="0"/>
              <a:t>The Carolina Sandhills is a thin region in between the southeastern coastal plain and piedmont regions</a:t>
            </a:r>
          </a:p>
          <a:p>
            <a:r>
              <a:rPr lang="en-US" dirty="0"/>
              <a:t>It is characterized by sandy soils, longleaf pine trees, and low brush/wiregrass (Wildlife, 2024)</a:t>
            </a:r>
          </a:p>
        </p:txBody>
      </p:sp>
      <p:pic>
        <p:nvPicPr>
          <p:cNvPr id="44" name="Picture 43">
            <a:extLst>
              <a:ext uri="{FF2B5EF4-FFF2-40B4-BE49-F238E27FC236}">
                <a16:creationId xmlns:a16="http://schemas.microsoft.com/office/drawing/2014/main" id="{BEB58FE7-3DC2-203F-18C2-3DC0498C2AE7}"/>
              </a:ext>
            </a:extLst>
          </p:cNvPr>
          <p:cNvPicPr>
            <a:picLocks noChangeAspect="1"/>
          </p:cNvPicPr>
          <p:nvPr/>
        </p:nvPicPr>
        <p:blipFill>
          <a:blip r:embed="rId2"/>
          <a:stretch>
            <a:fillRect/>
          </a:stretch>
        </p:blipFill>
        <p:spPr>
          <a:xfrm>
            <a:off x="6019800" y="1377572"/>
            <a:ext cx="5753836" cy="4351339"/>
          </a:xfrm>
          <a:prstGeom prst="rect">
            <a:avLst/>
          </a:prstGeom>
        </p:spPr>
      </p:pic>
      <p:sp>
        <p:nvSpPr>
          <p:cNvPr id="45" name="TextBox 44">
            <a:extLst>
              <a:ext uri="{FF2B5EF4-FFF2-40B4-BE49-F238E27FC236}">
                <a16:creationId xmlns:a16="http://schemas.microsoft.com/office/drawing/2014/main" id="{BAAE5464-8C03-67DE-DA9D-5092F8A5192C}"/>
              </a:ext>
            </a:extLst>
          </p:cNvPr>
          <p:cNvSpPr txBox="1"/>
          <p:nvPr/>
        </p:nvSpPr>
        <p:spPr>
          <a:xfrm>
            <a:off x="6280518" y="5728911"/>
            <a:ext cx="5232400" cy="646331"/>
          </a:xfrm>
          <a:prstGeom prst="rect">
            <a:avLst/>
          </a:prstGeom>
          <a:noFill/>
        </p:spPr>
        <p:txBody>
          <a:bodyPr wrap="square" rtlCol="0">
            <a:spAutoFit/>
          </a:bodyPr>
          <a:lstStyle/>
          <a:p>
            <a:r>
              <a:rPr lang="en-US" sz="900" dirty="0"/>
              <a:t>Wildlife, C. (2024, October 28). </a:t>
            </a:r>
            <a:r>
              <a:rPr lang="en-US" sz="900" i="1" dirty="0"/>
              <a:t>The North Carolina Sandhills and Their Wildlife - North Carolina Wildlife Federation</a:t>
            </a:r>
            <a:r>
              <a:rPr lang="en-US" sz="900" dirty="0"/>
              <a:t>. North Carolina Wildlife Federation. https://</a:t>
            </a:r>
            <a:r>
              <a:rPr lang="en-US" sz="900" dirty="0" err="1"/>
              <a:t>ncwf.org</a:t>
            </a:r>
            <a:r>
              <a:rPr lang="en-US" sz="900" dirty="0"/>
              <a:t>/blog/sandhills/</a:t>
            </a:r>
          </a:p>
          <a:p>
            <a:endParaRPr lang="en-US" dirty="0"/>
          </a:p>
        </p:txBody>
      </p:sp>
    </p:spTree>
    <p:extLst>
      <p:ext uri="{BB962C8B-B14F-4D97-AF65-F5344CB8AC3E}">
        <p14:creationId xmlns:p14="http://schemas.microsoft.com/office/powerpoint/2010/main" val="2708868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7A14B-4C5B-D59F-5EF6-8014B5896D66}"/>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65DFF789-83E6-7163-C831-CFB3EC5125A1}"/>
              </a:ext>
            </a:extLst>
          </p:cNvPr>
          <p:cNvSpPr>
            <a:spLocks noGrp="1"/>
          </p:cNvSpPr>
          <p:nvPr>
            <p:ph sz="half" idx="1"/>
          </p:nvPr>
        </p:nvSpPr>
        <p:spPr/>
        <p:txBody>
          <a:bodyPr/>
          <a:lstStyle/>
          <a:p>
            <a:r>
              <a:rPr lang="en-US" dirty="0"/>
              <a:t>The sandy soils drain extremely well and do not hold many nutrients, leading to a dry environment (Wildlife, 2024)</a:t>
            </a:r>
          </a:p>
          <a:p>
            <a:r>
              <a:rPr lang="en-US" dirty="0"/>
              <a:t>This dryness, along with sands low heat capacity, leads the region to warm faster than the surroundings. </a:t>
            </a:r>
          </a:p>
        </p:txBody>
      </p:sp>
      <p:sp>
        <p:nvSpPr>
          <p:cNvPr id="4" name="Content Placeholder 3">
            <a:extLst>
              <a:ext uri="{FF2B5EF4-FFF2-40B4-BE49-F238E27FC236}">
                <a16:creationId xmlns:a16="http://schemas.microsoft.com/office/drawing/2014/main" id="{26656385-31D3-641B-0397-86F12E33290A}"/>
              </a:ext>
            </a:extLst>
          </p:cNvPr>
          <p:cNvSpPr>
            <a:spLocks noGrp="1"/>
          </p:cNvSpPr>
          <p:nvPr>
            <p:ph sz="half" idx="2"/>
          </p:nvPr>
        </p:nvSpPr>
        <p:spPr/>
        <p:txBody>
          <a:bodyPr/>
          <a:lstStyle/>
          <a:p>
            <a:endParaRPr lang="en-US"/>
          </a:p>
        </p:txBody>
      </p:sp>
      <p:grpSp>
        <p:nvGrpSpPr>
          <p:cNvPr id="5" name="Group 4">
            <a:extLst>
              <a:ext uri="{FF2B5EF4-FFF2-40B4-BE49-F238E27FC236}">
                <a16:creationId xmlns:a16="http://schemas.microsoft.com/office/drawing/2014/main" id="{F30A4DFA-699A-9008-58AE-F0C31D78BF87}"/>
              </a:ext>
            </a:extLst>
          </p:cNvPr>
          <p:cNvGrpSpPr/>
          <p:nvPr/>
        </p:nvGrpSpPr>
        <p:grpSpPr>
          <a:xfrm>
            <a:off x="6172200" y="1377572"/>
            <a:ext cx="5880215" cy="4955772"/>
            <a:chOff x="6172200" y="1377572"/>
            <a:chExt cx="5880215" cy="4955772"/>
          </a:xfrm>
        </p:grpSpPr>
        <p:pic>
          <p:nvPicPr>
            <p:cNvPr id="6" name="Picture 5">
              <a:extLst>
                <a:ext uri="{FF2B5EF4-FFF2-40B4-BE49-F238E27FC236}">
                  <a16:creationId xmlns:a16="http://schemas.microsoft.com/office/drawing/2014/main" id="{A9582D2D-0CA6-97E9-4322-490B2F0CB99B}"/>
                </a:ext>
              </a:extLst>
            </p:cNvPr>
            <p:cNvPicPr>
              <a:picLocks noChangeAspect="1"/>
            </p:cNvPicPr>
            <p:nvPr/>
          </p:nvPicPr>
          <p:blipFill>
            <a:blip r:embed="rId3"/>
            <a:stretch>
              <a:fillRect/>
            </a:stretch>
          </p:blipFill>
          <p:spPr>
            <a:xfrm>
              <a:off x="6172200" y="1377572"/>
              <a:ext cx="5880215" cy="4955772"/>
            </a:xfrm>
            <a:prstGeom prst="rect">
              <a:avLst/>
            </a:prstGeom>
          </p:spPr>
        </p:pic>
        <p:cxnSp>
          <p:nvCxnSpPr>
            <p:cNvPr id="7" name="Straight Connector 6">
              <a:extLst>
                <a:ext uri="{FF2B5EF4-FFF2-40B4-BE49-F238E27FC236}">
                  <a16:creationId xmlns:a16="http://schemas.microsoft.com/office/drawing/2014/main" id="{3FFA307B-E059-77E0-25D6-EF7AFD46699B}"/>
                </a:ext>
              </a:extLst>
            </p:cNvPr>
            <p:cNvCxnSpPr/>
            <p:nvPr/>
          </p:nvCxnSpPr>
          <p:spPr>
            <a:xfrm flipH="1" flipV="1">
              <a:off x="10536865" y="1998921"/>
              <a:ext cx="404037" cy="180753"/>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9C3EC652-1C4E-2A2E-A914-9C83F4DBD329}"/>
                </a:ext>
              </a:extLst>
            </p:cNvPr>
            <p:cNvCxnSpPr>
              <a:cxnSpLocks/>
            </p:cNvCxnSpPr>
            <p:nvPr/>
          </p:nvCxnSpPr>
          <p:spPr>
            <a:xfrm flipH="1">
              <a:off x="9983972" y="2002650"/>
              <a:ext cx="552893" cy="506634"/>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113DF829-F03A-AC67-683A-848B95DB42B4}"/>
                </a:ext>
              </a:extLst>
            </p:cNvPr>
            <p:cNvCxnSpPr>
              <a:cxnSpLocks/>
            </p:cNvCxnSpPr>
            <p:nvPr/>
          </p:nvCxnSpPr>
          <p:spPr>
            <a:xfrm flipH="1">
              <a:off x="8325293" y="2509284"/>
              <a:ext cx="1658679" cy="1839433"/>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68948387-BEAD-7DED-CC25-2DDD9DF5F300}"/>
                </a:ext>
              </a:extLst>
            </p:cNvPr>
            <p:cNvCxnSpPr>
              <a:cxnSpLocks/>
            </p:cNvCxnSpPr>
            <p:nvPr/>
          </p:nvCxnSpPr>
          <p:spPr>
            <a:xfrm flipH="1">
              <a:off x="6709144" y="4348717"/>
              <a:ext cx="1619693" cy="1131711"/>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37E87FC1-2460-F072-7FED-271C15806A83}"/>
                </a:ext>
              </a:extLst>
            </p:cNvPr>
            <p:cNvCxnSpPr>
              <a:cxnSpLocks/>
            </p:cNvCxnSpPr>
            <p:nvPr/>
          </p:nvCxnSpPr>
          <p:spPr>
            <a:xfrm flipH="1" flipV="1">
              <a:off x="6705600" y="5480428"/>
              <a:ext cx="460744" cy="367479"/>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18914BE4-4954-5281-048C-4DB442FE886C}"/>
                </a:ext>
              </a:extLst>
            </p:cNvPr>
            <p:cNvCxnSpPr>
              <a:cxnSpLocks/>
            </p:cNvCxnSpPr>
            <p:nvPr/>
          </p:nvCxnSpPr>
          <p:spPr>
            <a:xfrm flipH="1">
              <a:off x="7166344" y="4497572"/>
              <a:ext cx="1596656" cy="1331124"/>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0E4D07C4-2BD5-6227-C54D-EE714CCE7267}"/>
                </a:ext>
              </a:extLst>
            </p:cNvPr>
            <p:cNvCxnSpPr>
              <a:cxnSpLocks/>
            </p:cNvCxnSpPr>
            <p:nvPr/>
          </p:nvCxnSpPr>
          <p:spPr>
            <a:xfrm flipH="1">
              <a:off x="9762801" y="2164184"/>
              <a:ext cx="1188733" cy="183711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63B98E92-7666-CB57-53ED-929E57AB3140}"/>
                </a:ext>
              </a:extLst>
            </p:cNvPr>
            <p:cNvCxnSpPr>
              <a:cxnSpLocks/>
            </p:cNvCxnSpPr>
            <p:nvPr/>
          </p:nvCxnSpPr>
          <p:spPr>
            <a:xfrm flipH="1">
              <a:off x="9331467" y="4001295"/>
              <a:ext cx="431334" cy="618513"/>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CE76B954-991F-5357-50A7-F70D5D74A8A3}"/>
                </a:ext>
              </a:extLst>
            </p:cNvPr>
            <p:cNvCxnSpPr>
              <a:cxnSpLocks/>
            </p:cNvCxnSpPr>
            <p:nvPr/>
          </p:nvCxnSpPr>
          <p:spPr>
            <a:xfrm flipH="1" flipV="1">
              <a:off x="8763000" y="4497572"/>
              <a:ext cx="583734" cy="94857"/>
            </a:xfrm>
            <a:prstGeom prst="line">
              <a:avLst/>
            </a:prstGeom>
          </p:spPr>
          <p:style>
            <a:lnRef idx="3">
              <a:schemeClr val="dk1"/>
            </a:lnRef>
            <a:fillRef idx="0">
              <a:schemeClr val="dk1"/>
            </a:fillRef>
            <a:effectRef idx="2">
              <a:schemeClr val="dk1"/>
            </a:effectRef>
            <a:fontRef idx="minor">
              <a:schemeClr val="tx1"/>
            </a:fontRef>
          </p:style>
        </p:cxnSp>
      </p:grpSp>
      <p:sp>
        <p:nvSpPr>
          <p:cNvPr id="16" name="TextBox 15">
            <a:extLst>
              <a:ext uri="{FF2B5EF4-FFF2-40B4-BE49-F238E27FC236}">
                <a16:creationId xmlns:a16="http://schemas.microsoft.com/office/drawing/2014/main" id="{145EFFE6-D2CB-9288-2F58-9EE4174B3C00}"/>
              </a:ext>
            </a:extLst>
          </p:cNvPr>
          <p:cNvSpPr txBox="1"/>
          <p:nvPr/>
        </p:nvSpPr>
        <p:spPr>
          <a:xfrm>
            <a:off x="6015164" y="6349198"/>
            <a:ext cx="6278936" cy="507831"/>
          </a:xfrm>
          <a:prstGeom prst="rect">
            <a:avLst/>
          </a:prstGeom>
          <a:noFill/>
        </p:spPr>
        <p:txBody>
          <a:bodyPr wrap="square" rtlCol="0">
            <a:spAutoFit/>
          </a:bodyPr>
          <a:lstStyle/>
          <a:p>
            <a:r>
              <a:rPr lang="en-US" sz="900" dirty="0"/>
              <a:t>U.S. Environmental Protection Agency. (2013). </a:t>
            </a:r>
            <a:r>
              <a:rPr lang="en-US" sz="900" i="1" dirty="0"/>
              <a:t>Level III and IV ecoregions of the continental United States</a:t>
            </a:r>
            <a:r>
              <a:rPr lang="en-US" sz="900" dirty="0"/>
              <a:t> [Map]. National Health and Environmental Effects Research Laboratory, Corvallis, OR. </a:t>
            </a:r>
            <a:r>
              <a:rPr lang="en-US" sz="900" dirty="0">
                <a:hlinkClick r:id="rId4">
                  <a:extLst>
                    <a:ext uri="{A12FA001-AC4F-418D-AE19-62706E023703}">
                      <ahyp:hlinkClr xmlns:ahyp="http://schemas.microsoft.com/office/drawing/2018/hyperlinkcolor" val="tx"/>
                    </a:ext>
                  </a:extLst>
                </a:hlinkClick>
              </a:rPr>
              <a:t>https://www.epa.gov/eco-research/level-iii-and-iv-ecoregions-continental-united-states</a:t>
            </a:r>
            <a:endParaRPr lang="en-US" sz="900" dirty="0"/>
          </a:p>
        </p:txBody>
      </p:sp>
    </p:spTree>
    <p:extLst>
      <p:ext uri="{BB962C8B-B14F-4D97-AF65-F5344CB8AC3E}">
        <p14:creationId xmlns:p14="http://schemas.microsoft.com/office/powerpoint/2010/main" val="3297952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72CE-4D73-B42D-4131-2CB6B0CEFD94}"/>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51FB580A-9D00-C18E-9027-AC34708AEBFD}"/>
              </a:ext>
            </a:extLst>
          </p:cNvPr>
          <p:cNvSpPr>
            <a:spLocks noGrp="1"/>
          </p:cNvSpPr>
          <p:nvPr>
            <p:ph sz="half" idx="1"/>
          </p:nvPr>
        </p:nvSpPr>
        <p:spPr/>
        <p:txBody>
          <a:bodyPr/>
          <a:lstStyle/>
          <a:p>
            <a:r>
              <a:rPr lang="en-US" dirty="0"/>
              <a:t>The sandy, dry, and low-nutrient environment create a restrictive ecosystem for most plants.</a:t>
            </a:r>
          </a:p>
          <a:p>
            <a:r>
              <a:rPr lang="en-US" dirty="0"/>
              <a:t>It is also subject to many natural brushfires and unnatural controlled burns to sustain ecological balance. </a:t>
            </a:r>
          </a:p>
          <a:p>
            <a:endParaRPr lang="en-US" dirty="0"/>
          </a:p>
        </p:txBody>
      </p:sp>
      <p:grpSp>
        <p:nvGrpSpPr>
          <p:cNvPr id="5" name="Group 4">
            <a:extLst>
              <a:ext uri="{FF2B5EF4-FFF2-40B4-BE49-F238E27FC236}">
                <a16:creationId xmlns:a16="http://schemas.microsoft.com/office/drawing/2014/main" id="{18B61482-354C-32AD-900E-185C2814E44F}"/>
              </a:ext>
            </a:extLst>
          </p:cNvPr>
          <p:cNvGrpSpPr/>
          <p:nvPr/>
        </p:nvGrpSpPr>
        <p:grpSpPr>
          <a:xfrm>
            <a:off x="6315841" y="1548626"/>
            <a:ext cx="5181600" cy="4859169"/>
            <a:chOff x="6172200" y="1825625"/>
            <a:chExt cx="5181600" cy="4859169"/>
          </a:xfrm>
        </p:grpSpPr>
        <p:pic>
          <p:nvPicPr>
            <p:cNvPr id="6" name="Picture 5" descr="A photo of a longleaf pine savanna, a critical element of the Sandhills region.">
              <a:extLst>
                <a:ext uri="{FF2B5EF4-FFF2-40B4-BE49-F238E27FC236}">
                  <a16:creationId xmlns:a16="http://schemas.microsoft.com/office/drawing/2014/main" id="{EE1B3841-42C4-DB3A-F671-A59AEE9FE85D}"/>
                </a:ext>
              </a:extLst>
            </p:cNvPr>
            <p:cNvPicPr>
              <a:picLocks noChangeAspect="1"/>
            </p:cNvPicPr>
            <p:nvPr/>
          </p:nvPicPr>
          <p:blipFill>
            <a:blip r:embed="rId2"/>
            <a:srcRect b="16023"/>
            <a:stretch>
              <a:fillRect/>
            </a:stretch>
          </p:blipFill>
          <p:spPr>
            <a:xfrm>
              <a:off x="6172200" y="1825625"/>
              <a:ext cx="5181600" cy="4351338"/>
            </a:xfrm>
            <a:prstGeom prst="rect">
              <a:avLst/>
            </a:prstGeom>
            <a:noFill/>
          </p:spPr>
        </p:pic>
        <p:sp>
          <p:nvSpPr>
            <p:cNvPr id="7" name="TextBox 6">
              <a:extLst>
                <a:ext uri="{FF2B5EF4-FFF2-40B4-BE49-F238E27FC236}">
                  <a16:creationId xmlns:a16="http://schemas.microsoft.com/office/drawing/2014/main" id="{A90F4C3A-4B03-A59F-E820-C12711548065}"/>
                </a:ext>
              </a:extLst>
            </p:cNvPr>
            <p:cNvSpPr txBox="1"/>
            <p:nvPr/>
          </p:nvSpPr>
          <p:spPr>
            <a:xfrm>
              <a:off x="6422065" y="6176963"/>
              <a:ext cx="4699591" cy="507831"/>
            </a:xfrm>
            <a:prstGeom prst="rect">
              <a:avLst/>
            </a:prstGeom>
            <a:noFill/>
          </p:spPr>
          <p:txBody>
            <a:bodyPr wrap="square" rtlCol="0">
              <a:spAutoFit/>
            </a:bodyPr>
            <a:lstStyle/>
            <a:p>
              <a:pPr algn="ctr"/>
              <a:r>
                <a:rPr lang="en-US" sz="900" dirty="0"/>
                <a:t>Wildlife, C. (2024, October 28). </a:t>
              </a:r>
              <a:r>
                <a:rPr lang="en-US" sz="900" i="1" dirty="0"/>
                <a:t>The North Carolina Sandhills and Their Wildlife - North Carolina Wildlife Federation</a:t>
              </a:r>
              <a:r>
                <a:rPr lang="en-US" sz="900" dirty="0"/>
                <a:t>. North Carolina Wildlife Federation. https://</a:t>
              </a:r>
              <a:r>
                <a:rPr lang="en-US" sz="900" dirty="0" err="1"/>
                <a:t>ncwf.org</a:t>
              </a:r>
              <a:r>
                <a:rPr lang="en-US" sz="900" dirty="0"/>
                <a:t>/blog/sandhills/</a:t>
              </a:r>
            </a:p>
          </p:txBody>
        </p:sp>
      </p:grpSp>
    </p:spTree>
    <p:extLst>
      <p:ext uri="{BB962C8B-B14F-4D97-AF65-F5344CB8AC3E}">
        <p14:creationId xmlns:p14="http://schemas.microsoft.com/office/powerpoint/2010/main" val="1647508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A196E-C2B0-2F82-C533-5E494A3D4A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FAF4EE-ACE6-63DB-07A2-2D32FAF69598}"/>
              </a:ext>
            </a:extLst>
          </p:cNvPr>
          <p:cNvSpPr txBox="1"/>
          <p:nvPr/>
        </p:nvSpPr>
        <p:spPr>
          <a:xfrm>
            <a:off x="1582479" y="2505670"/>
            <a:ext cx="9027042" cy="923330"/>
          </a:xfrm>
          <a:prstGeom prst="rect">
            <a:avLst/>
          </a:prstGeom>
          <a:noFill/>
        </p:spPr>
        <p:txBody>
          <a:bodyPr wrap="square" rtlCol="0">
            <a:spAutoFit/>
          </a:bodyPr>
          <a:lstStyle/>
          <a:p>
            <a:r>
              <a:rPr lang="en-US" sz="5400" dirty="0">
                <a:solidFill>
                  <a:schemeClr val="bg1"/>
                </a:solidFill>
                <a:latin typeface="Public Sans Black"/>
              </a:rPr>
              <a:t>Science Question</a:t>
            </a:r>
            <a:endParaRPr lang="en-US" sz="5400" dirty="0">
              <a:solidFill>
                <a:schemeClr val="bg1"/>
              </a:solidFill>
            </a:endParaRPr>
          </a:p>
        </p:txBody>
      </p:sp>
    </p:spTree>
    <p:extLst>
      <p:ext uri="{BB962C8B-B14F-4D97-AF65-F5344CB8AC3E}">
        <p14:creationId xmlns:p14="http://schemas.microsoft.com/office/powerpoint/2010/main" val="1146906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71433-29C0-E0EE-774A-4AEF6ED6A145}"/>
              </a:ext>
            </a:extLst>
          </p:cNvPr>
          <p:cNvSpPr txBox="1">
            <a:spLocks/>
          </p:cNvSpPr>
          <p:nvPr/>
        </p:nvSpPr>
        <p:spPr>
          <a:xfrm>
            <a:off x="569311" y="2235200"/>
            <a:ext cx="11053377" cy="2387600"/>
          </a:xfrm>
          <a:prstGeom prst="rect">
            <a:avLst/>
          </a:prstGeom>
        </p:spPr>
        <p:txBody>
          <a:bodyPr/>
          <a:lstStyle>
            <a:lvl1pPr algn="l" defTabSz="914400" rtl="0" eaLnBrk="1" latinLnBrk="0" hangingPunct="1">
              <a:lnSpc>
                <a:spcPts val="5200"/>
              </a:lnSpc>
              <a:spcBef>
                <a:spcPct val="0"/>
              </a:spcBef>
              <a:buNone/>
              <a:defRPr sz="4400" b="1" i="0" kern="1200">
                <a:solidFill>
                  <a:schemeClr val="tx1"/>
                </a:solidFill>
                <a:latin typeface="Public Sans Black" pitchFamily="2" charset="77"/>
                <a:ea typeface="+mj-ea"/>
                <a:cs typeface="+mj-cs"/>
              </a:defRPr>
            </a:lvl1pPr>
          </a:lstStyle>
          <a:p>
            <a:r>
              <a:rPr lang="en-US" dirty="0">
                <a:solidFill>
                  <a:schemeClr val="tx2"/>
                </a:solidFill>
              </a:rPr>
              <a:t>Can we detect a signature of enhanced surface heating in the sandhills region using satellite data?</a:t>
            </a:r>
          </a:p>
        </p:txBody>
      </p:sp>
    </p:spTree>
    <p:extLst>
      <p:ext uri="{BB962C8B-B14F-4D97-AF65-F5344CB8AC3E}">
        <p14:creationId xmlns:p14="http://schemas.microsoft.com/office/powerpoint/2010/main" val="225117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E21D2-4566-7F6A-74D0-F498818F7D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7FB165-9542-FC36-65A0-99C067A4927F}"/>
              </a:ext>
            </a:extLst>
          </p:cNvPr>
          <p:cNvSpPr txBox="1"/>
          <p:nvPr/>
        </p:nvSpPr>
        <p:spPr>
          <a:xfrm>
            <a:off x="1582479" y="2505670"/>
            <a:ext cx="9027042" cy="923330"/>
          </a:xfrm>
          <a:prstGeom prst="rect">
            <a:avLst/>
          </a:prstGeom>
          <a:noFill/>
        </p:spPr>
        <p:txBody>
          <a:bodyPr wrap="square" rtlCol="0">
            <a:spAutoFit/>
          </a:bodyPr>
          <a:lstStyle/>
          <a:p>
            <a:r>
              <a:rPr lang="en-US" sz="5400" dirty="0">
                <a:solidFill>
                  <a:schemeClr val="bg1"/>
                </a:solidFill>
                <a:latin typeface="Public Sans Black"/>
              </a:rPr>
              <a:t>Data &amp; Methods</a:t>
            </a:r>
            <a:endParaRPr lang="en-US" sz="5400" dirty="0">
              <a:solidFill>
                <a:schemeClr val="bg1"/>
              </a:solidFill>
            </a:endParaRPr>
          </a:p>
        </p:txBody>
      </p:sp>
    </p:spTree>
    <p:extLst>
      <p:ext uri="{BB962C8B-B14F-4D97-AF65-F5344CB8AC3E}">
        <p14:creationId xmlns:p14="http://schemas.microsoft.com/office/powerpoint/2010/main" val="331731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759ED-0F9B-4094-3762-77A53851D2FC}"/>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F27D6C9C-B20F-BB84-4114-EFE87FF0B4CE}"/>
              </a:ext>
            </a:extLst>
          </p:cNvPr>
          <p:cNvSpPr>
            <a:spLocks noGrp="1"/>
          </p:cNvSpPr>
          <p:nvPr>
            <p:ph sz="half" idx="1"/>
          </p:nvPr>
        </p:nvSpPr>
        <p:spPr/>
        <p:txBody>
          <a:bodyPr/>
          <a:lstStyle/>
          <a:p>
            <a:r>
              <a:rPr lang="en-US" dirty="0"/>
              <a:t>I will be using MODIS daily LST data from both Terra and Aqua Satellites (11A1) for land surface data and MODIS 16-Day Vegetation Index (13A1) from both Terra and Aqua for NDVI</a:t>
            </a:r>
          </a:p>
          <a:p>
            <a:r>
              <a:rPr lang="en-US" dirty="0"/>
              <a:t>Both datasets are collected from NASA’s Earth Datastore</a:t>
            </a:r>
          </a:p>
        </p:txBody>
      </p:sp>
    </p:spTree>
    <p:extLst>
      <p:ext uri="{BB962C8B-B14F-4D97-AF65-F5344CB8AC3E}">
        <p14:creationId xmlns:p14="http://schemas.microsoft.com/office/powerpoint/2010/main" val="2943379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9FFD-3E7C-6C8C-4A69-54AE2ED6599D}"/>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14AD5D80-422B-8A9B-92A5-7BB4512C1091}"/>
              </a:ext>
            </a:extLst>
          </p:cNvPr>
          <p:cNvSpPr>
            <a:spLocks noGrp="1"/>
          </p:cNvSpPr>
          <p:nvPr>
            <p:ph sz="half" idx="1"/>
          </p:nvPr>
        </p:nvSpPr>
        <p:spPr/>
        <p:txBody>
          <a:bodyPr/>
          <a:lstStyle/>
          <a:p>
            <a:r>
              <a:rPr lang="en-US" dirty="0"/>
              <a:t>Data is downloaded from 2020-2025 in June, July, August</a:t>
            </a:r>
          </a:p>
          <a:p>
            <a:pPr lvl="1"/>
            <a:r>
              <a:rPr lang="en-US" dirty="0"/>
              <a:t>Selected the summer months to target the summer temperatures for our LST data and to get healthy, mature vegetation. There is also less cloud cover on average during this period.</a:t>
            </a:r>
          </a:p>
          <a:p>
            <a:r>
              <a:rPr lang="en-US" dirty="0"/>
              <a:t>Data is filtered by NASA’s Earth Datastore on the first pass, any files with greater than 30% cloud cover are not downloaded</a:t>
            </a:r>
          </a:p>
        </p:txBody>
      </p:sp>
    </p:spTree>
    <p:extLst>
      <p:ext uri="{BB962C8B-B14F-4D97-AF65-F5344CB8AC3E}">
        <p14:creationId xmlns:p14="http://schemas.microsoft.com/office/powerpoint/2010/main" val="1014857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025B-9912-075B-3C65-93CD33099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BD1ED-834A-667C-8B36-2D33CC389195}"/>
              </a:ext>
            </a:extLst>
          </p:cNvPr>
          <p:cNvSpPr>
            <a:spLocks noGrp="1"/>
          </p:cNvSpPr>
          <p:nvPr>
            <p:ph type="title"/>
          </p:nvPr>
        </p:nvSpPr>
        <p:spPr/>
        <p:txBody>
          <a:bodyPr/>
          <a:lstStyle/>
          <a:p>
            <a:r>
              <a:rPr lang="en-US" dirty="0"/>
              <a:t>Land Surface Temperature Data Pipeline</a:t>
            </a:r>
          </a:p>
        </p:txBody>
      </p:sp>
      <p:sp>
        <p:nvSpPr>
          <p:cNvPr id="6" name="Rounded Rectangle 5">
            <a:extLst>
              <a:ext uri="{FF2B5EF4-FFF2-40B4-BE49-F238E27FC236}">
                <a16:creationId xmlns:a16="http://schemas.microsoft.com/office/drawing/2014/main" id="{83994868-834F-946C-0422-2CA7ABA28BC1}"/>
              </a:ext>
            </a:extLst>
          </p:cNvPr>
          <p:cNvSpPr/>
          <p:nvPr/>
        </p:nvSpPr>
        <p:spPr>
          <a:xfrm>
            <a:off x="259883" y="2454441"/>
            <a:ext cx="2165684" cy="3744227"/>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Read data files and extract data from bands of interest</a:t>
            </a:r>
            <a:endParaRPr lang="en-US" dirty="0"/>
          </a:p>
          <a:p>
            <a:pPr algn="ctr"/>
            <a:endParaRPr lang="en-US" dirty="0"/>
          </a:p>
          <a:p>
            <a:pPr algn="ctr"/>
            <a:r>
              <a:rPr lang="en-US" dirty="0"/>
              <a:t>LST Day &amp; Night</a:t>
            </a:r>
            <a:br>
              <a:rPr lang="en-US" dirty="0"/>
            </a:br>
            <a:r>
              <a:rPr lang="en-US" dirty="0"/>
              <a:t>Quality Control Day &amp; Night </a:t>
            </a:r>
          </a:p>
        </p:txBody>
      </p:sp>
      <p:sp>
        <p:nvSpPr>
          <p:cNvPr id="7" name="Rounded Rectangle 6">
            <a:extLst>
              <a:ext uri="{FF2B5EF4-FFF2-40B4-BE49-F238E27FC236}">
                <a16:creationId xmlns:a16="http://schemas.microsoft.com/office/drawing/2014/main" id="{9406BF1D-4BF3-F37A-6883-8AB2C913C316}"/>
              </a:ext>
            </a:extLst>
          </p:cNvPr>
          <p:cNvSpPr/>
          <p:nvPr/>
        </p:nvSpPr>
        <p:spPr>
          <a:xfrm>
            <a:off x="2739692" y="2454442"/>
            <a:ext cx="2165684" cy="3744226"/>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Build and apply quality control mask to data</a:t>
            </a:r>
          </a:p>
          <a:p>
            <a:pPr algn="ctr"/>
            <a:endParaRPr lang="en-US" dirty="0"/>
          </a:p>
          <a:p>
            <a:pPr algn="ctr"/>
            <a:r>
              <a:rPr lang="en-US" dirty="0"/>
              <a:t>Any pixels flagged as poor quality &amp; pixels with an average error &gt;= 3K are masked out</a:t>
            </a:r>
          </a:p>
        </p:txBody>
      </p:sp>
      <p:sp>
        <p:nvSpPr>
          <p:cNvPr id="8" name="Rounded Rectangle 7">
            <a:extLst>
              <a:ext uri="{FF2B5EF4-FFF2-40B4-BE49-F238E27FC236}">
                <a16:creationId xmlns:a16="http://schemas.microsoft.com/office/drawing/2014/main" id="{C7CD2A80-64D3-4F62-9393-4C783D6F55D1}"/>
              </a:ext>
            </a:extLst>
          </p:cNvPr>
          <p:cNvSpPr/>
          <p:nvPr/>
        </p:nvSpPr>
        <p:spPr>
          <a:xfrm>
            <a:off x="5219501" y="2454441"/>
            <a:ext cx="2165684" cy="3744225"/>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Reproject</a:t>
            </a:r>
          </a:p>
          <a:p>
            <a:pPr algn="ctr"/>
            <a:endParaRPr lang="en-US" dirty="0"/>
          </a:p>
          <a:p>
            <a:pPr algn="ctr"/>
            <a:r>
              <a:rPr lang="en-US" dirty="0"/>
              <a:t>Reproject from MODIS native sinusoidal projection to EPSG:32617. Using bilinear interpolation to fill in gaps when pixels do not fall exactly on grid</a:t>
            </a:r>
          </a:p>
        </p:txBody>
      </p:sp>
      <p:sp>
        <p:nvSpPr>
          <p:cNvPr id="9" name="Rounded Rectangle 8">
            <a:extLst>
              <a:ext uri="{FF2B5EF4-FFF2-40B4-BE49-F238E27FC236}">
                <a16:creationId xmlns:a16="http://schemas.microsoft.com/office/drawing/2014/main" id="{71BE70C1-3C16-77D2-2258-F2F5F9F04214}"/>
              </a:ext>
            </a:extLst>
          </p:cNvPr>
          <p:cNvSpPr/>
          <p:nvPr/>
        </p:nvSpPr>
        <p:spPr>
          <a:xfrm>
            <a:off x="7699310" y="2454441"/>
            <a:ext cx="1950719" cy="3744224"/>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Trim</a:t>
            </a:r>
          </a:p>
          <a:p>
            <a:pPr algn="ctr"/>
            <a:endParaRPr lang="en-US" dirty="0"/>
          </a:p>
          <a:p>
            <a:pPr algn="ctr"/>
            <a:r>
              <a:rPr lang="en-US" dirty="0"/>
              <a:t>Trim excess data from well outside of our study region to save memory</a:t>
            </a:r>
          </a:p>
        </p:txBody>
      </p:sp>
      <p:sp>
        <p:nvSpPr>
          <p:cNvPr id="10" name="Rounded Rectangle 9">
            <a:extLst>
              <a:ext uri="{FF2B5EF4-FFF2-40B4-BE49-F238E27FC236}">
                <a16:creationId xmlns:a16="http://schemas.microsoft.com/office/drawing/2014/main" id="{E483FBB2-8B90-C81E-114F-6028EB6B5744}"/>
              </a:ext>
            </a:extLst>
          </p:cNvPr>
          <p:cNvSpPr/>
          <p:nvPr/>
        </p:nvSpPr>
        <p:spPr>
          <a:xfrm>
            <a:off x="9964154" y="2454441"/>
            <a:ext cx="1967963" cy="3744224"/>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Save</a:t>
            </a:r>
          </a:p>
          <a:p>
            <a:pPr algn="ctr"/>
            <a:endParaRPr lang="en-US" dirty="0"/>
          </a:p>
          <a:p>
            <a:pPr algn="ctr"/>
            <a:r>
              <a:rPr lang="en-US" dirty="0"/>
              <a:t>The data is grouped by month and averaged, then saved as a </a:t>
            </a:r>
            <a:r>
              <a:rPr lang="en-US" dirty="0" err="1"/>
              <a:t>geoTIFF</a:t>
            </a:r>
            <a:r>
              <a:rPr lang="en-US" dirty="0"/>
              <a:t> for analysis. Save a day, night, and diurnal range file for each month</a:t>
            </a:r>
          </a:p>
        </p:txBody>
      </p:sp>
      <p:sp>
        <p:nvSpPr>
          <p:cNvPr id="11" name="Right Arrow 10">
            <a:extLst>
              <a:ext uri="{FF2B5EF4-FFF2-40B4-BE49-F238E27FC236}">
                <a16:creationId xmlns:a16="http://schemas.microsoft.com/office/drawing/2014/main" id="{040F7D2A-94E0-D90E-3506-D59BF9987BCA}"/>
              </a:ext>
            </a:extLst>
          </p:cNvPr>
          <p:cNvSpPr/>
          <p:nvPr/>
        </p:nvSpPr>
        <p:spPr>
          <a:xfrm>
            <a:off x="1578544" y="6371924"/>
            <a:ext cx="9442383" cy="380198"/>
          </a:xfrm>
          <a:prstGeom prst="rightArrow">
            <a:avLst/>
          </a:prstGeom>
          <a:solidFill>
            <a:schemeClr val="accent4"/>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5983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C029-6DFD-733A-49D0-D013C23040EE}"/>
              </a:ext>
            </a:extLst>
          </p:cNvPr>
          <p:cNvSpPr>
            <a:spLocks noGrp="1"/>
          </p:cNvSpPr>
          <p:nvPr>
            <p:ph type="title"/>
          </p:nvPr>
        </p:nvSpPr>
        <p:spPr/>
        <p:txBody>
          <a:bodyPr/>
          <a:lstStyle/>
          <a:p>
            <a:r>
              <a:rPr lang="en-US" dirty="0"/>
              <a:t>Land Surface Temperature Pipeline</a:t>
            </a:r>
          </a:p>
        </p:txBody>
      </p:sp>
      <p:sp>
        <p:nvSpPr>
          <p:cNvPr id="3" name="Content Placeholder 2">
            <a:extLst>
              <a:ext uri="{FF2B5EF4-FFF2-40B4-BE49-F238E27FC236}">
                <a16:creationId xmlns:a16="http://schemas.microsoft.com/office/drawing/2014/main" id="{8F48FA1E-E712-2468-28EA-95A6FED814F7}"/>
              </a:ext>
            </a:extLst>
          </p:cNvPr>
          <p:cNvSpPr>
            <a:spLocks noGrp="1"/>
          </p:cNvSpPr>
          <p:nvPr>
            <p:ph sz="half" idx="1"/>
          </p:nvPr>
        </p:nvSpPr>
        <p:spPr/>
        <p:txBody>
          <a:bodyPr/>
          <a:lstStyle/>
          <a:p>
            <a:r>
              <a:rPr lang="en-US" dirty="0"/>
              <a:t>After processing, we are left with a sample size of 269 observations, which are then grouped by month and averaged.</a:t>
            </a:r>
          </a:p>
          <a:p>
            <a:r>
              <a:rPr lang="en-US" dirty="0"/>
              <a:t>Then a final average is completed for the day, night, and diurnal range files. Producing a dataset that represents the average LST from all 269 observations.</a:t>
            </a:r>
          </a:p>
          <a:p>
            <a:endParaRPr lang="en-US" dirty="0"/>
          </a:p>
          <a:p>
            <a:endParaRPr lang="en-US" dirty="0"/>
          </a:p>
          <a:p>
            <a:endParaRPr lang="en-US" dirty="0"/>
          </a:p>
        </p:txBody>
      </p:sp>
    </p:spTree>
    <p:extLst>
      <p:ext uri="{BB962C8B-B14F-4D97-AF65-F5344CB8AC3E}">
        <p14:creationId xmlns:p14="http://schemas.microsoft.com/office/powerpoint/2010/main" val="1113252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580C9-FFA7-4D1B-8912-DE63ADA2A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04A26-C4A4-B5F3-978A-2EA948E7282A}"/>
              </a:ext>
            </a:extLst>
          </p:cNvPr>
          <p:cNvSpPr>
            <a:spLocks noGrp="1"/>
          </p:cNvSpPr>
          <p:nvPr>
            <p:ph type="title"/>
          </p:nvPr>
        </p:nvSpPr>
        <p:spPr/>
        <p:txBody>
          <a:bodyPr/>
          <a:lstStyle/>
          <a:p>
            <a:r>
              <a:rPr lang="en-US" dirty="0"/>
              <a:t>Vegetation Index Data Pipeline</a:t>
            </a:r>
          </a:p>
        </p:txBody>
      </p:sp>
      <p:sp>
        <p:nvSpPr>
          <p:cNvPr id="6" name="Rounded Rectangle 5">
            <a:extLst>
              <a:ext uri="{FF2B5EF4-FFF2-40B4-BE49-F238E27FC236}">
                <a16:creationId xmlns:a16="http://schemas.microsoft.com/office/drawing/2014/main" id="{4FD6E498-6660-9CAB-DD02-951CB3AF1112}"/>
              </a:ext>
            </a:extLst>
          </p:cNvPr>
          <p:cNvSpPr/>
          <p:nvPr/>
        </p:nvSpPr>
        <p:spPr>
          <a:xfrm>
            <a:off x="259883" y="2454441"/>
            <a:ext cx="2165684" cy="3744227"/>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Read data files and extract data from bands of interest</a:t>
            </a:r>
            <a:endParaRPr lang="en-US" dirty="0"/>
          </a:p>
          <a:p>
            <a:pPr algn="ctr"/>
            <a:endParaRPr lang="en-US" dirty="0"/>
          </a:p>
          <a:p>
            <a:pPr algn="ctr"/>
            <a:r>
              <a:rPr lang="en-US" dirty="0"/>
              <a:t>16 Day NDVI</a:t>
            </a:r>
          </a:p>
          <a:p>
            <a:pPr algn="ctr"/>
            <a:r>
              <a:rPr lang="en-US" dirty="0"/>
              <a:t>16 Day EVI</a:t>
            </a:r>
          </a:p>
          <a:p>
            <a:pPr algn="ctr"/>
            <a:r>
              <a:rPr lang="en-US" dirty="0"/>
              <a:t>16 Day Pixel Reliability</a:t>
            </a:r>
          </a:p>
        </p:txBody>
      </p:sp>
      <p:sp>
        <p:nvSpPr>
          <p:cNvPr id="7" name="Rounded Rectangle 6">
            <a:extLst>
              <a:ext uri="{FF2B5EF4-FFF2-40B4-BE49-F238E27FC236}">
                <a16:creationId xmlns:a16="http://schemas.microsoft.com/office/drawing/2014/main" id="{4DC0B321-54C6-A0AC-6F92-1E1E4629CD81}"/>
              </a:ext>
            </a:extLst>
          </p:cNvPr>
          <p:cNvSpPr/>
          <p:nvPr/>
        </p:nvSpPr>
        <p:spPr>
          <a:xfrm>
            <a:off x="2739692" y="2454442"/>
            <a:ext cx="2165684" cy="3744226"/>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Build and apply quality control mask to data</a:t>
            </a:r>
          </a:p>
          <a:p>
            <a:pPr algn="ctr"/>
            <a:endParaRPr lang="en-US" dirty="0"/>
          </a:p>
          <a:p>
            <a:pPr algn="ctr"/>
            <a:r>
              <a:rPr lang="en-US" dirty="0"/>
              <a:t>Any pixels flagged as worse than moderate quality are masked out</a:t>
            </a:r>
          </a:p>
        </p:txBody>
      </p:sp>
      <p:sp>
        <p:nvSpPr>
          <p:cNvPr id="8" name="Rounded Rectangle 7">
            <a:extLst>
              <a:ext uri="{FF2B5EF4-FFF2-40B4-BE49-F238E27FC236}">
                <a16:creationId xmlns:a16="http://schemas.microsoft.com/office/drawing/2014/main" id="{FE47C2EC-9E9C-11E4-57A3-C3C08345730D}"/>
              </a:ext>
            </a:extLst>
          </p:cNvPr>
          <p:cNvSpPr/>
          <p:nvPr/>
        </p:nvSpPr>
        <p:spPr>
          <a:xfrm>
            <a:off x="5219501" y="2454441"/>
            <a:ext cx="2165684" cy="3744225"/>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Reproject</a:t>
            </a:r>
          </a:p>
          <a:p>
            <a:pPr algn="ctr"/>
            <a:endParaRPr lang="en-US" dirty="0"/>
          </a:p>
          <a:p>
            <a:pPr algn="ctr"/>
            <a:r>
              <a:rPr lang="en-US" dirty="0"/>
              <a:t>Reproject from MODIS native sinusoidal projection to EPSG:32617. Using bilinear interpolation to fill in gaps when pixels do not fall exactly on grid</a:t>
            </a:r>
          </a:p>
        </p:txBody>
      </p:sp>
      <p:sp>
        <p:nvSpPr>
          <p:cNvPr id="9" name="Rounded Rectangle 8">
            <a:extLst>
              <a:ext uri="{FF2B5EF4-FFF2-40B4-BE49-F238E27FC236}">
                <a16:creationId xmlns:a16="http://schemas.microsoft.com/office/drawing/2014/main" id="{B59C4EA5-4EDD-325E-631B-8631CE42A11F}"/>
              </a:ext>
            </a:extLst>
          </p:cNvPr>
          <p:cNvSpPr/>
          <p:nvPr/>
        </p:nvSpPr>
        <p:spPr>
          <a:xfrm>
            <a:off x="7699310" y="2454441"/>
            <a:ext cx="1950719" cy="3744224"/>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Trim</a:t>
            </a:r>
          </a:p>
          <a:p>
            <a:pPr algn="ctr"/>
            <a:endParaRPr lang="en-US" dirty="0"/>
          </a:p>
          <a:p>
            <a:pPr algn="ctr"/>
            <a:r>
              <a:rPr lang="en-US" dirty="0"/>
              <a:t>Trim excess data from well outside of our study region to save memory</a:t>
            </a:r>
          </a:p>
        </p:txBody>
      </p:sp>
      <p:sp>
        <p:nvSpPr>
          <p:cNvPr id="10" name="Rounded Rectangle 9">
            <a:extLst>
              <a:ext uri="{FF2B5EF4-FFF2-40B4-BE49-F238E27FC236}">
                <a16:creationId xmlns:a16="http://schemas.microsoft.com/office/drawing/2014/main" id="{4DD563C0-2732-55E5-0FA5-9BFD976F0CD5}"/>
              </a:ext>
            </a:extLst>
          </p:cNvPr>
          <p:cNvSpPr/>
          <p:nvPr/>
        </p:nvSpPr>
        <p:spPr>
          <a:xfrm>
            <a:off x="9964154" y="2454441"/>
            <a:ext cx="1967963" cy="3744224"/>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Save</a:t>
            </a:r>
          </a:p>
          <a:p>
            <a:pPr algn="ctr"/>
            <a:endParaRPr lang="en-US" dirty="0"/>
          </a:p>
          <a:p>
            <a:pPr algn="ctr"/>
            <a:r>
              <a:rPr lang="en-US" dirty="0"/>
              <a:t>The data is grouped by month and averaged, then saved as a </a:t>
            </a:r>
            <a:r>
              <a:rPr lang="en-US" dirty="0" err="1"/>
              <a:t>geoTIFF</a:t>
            </a:r>
            <a:r>
              <a:rPr lang="en-US" dirty="0"/>
              <a:t> for analysis. Save a NDVI &amp; EVI file for each month</a:t>
            </a:r>
          </a:p>
        </p:txBody>
      </p:sp>
      <p:sp>
        <p:nvSpPr>
          <p:cNvPr id="11" name="Right Arrow 10">
            <a:extLst>
              <a:ext uri="{FF2B5EF4-FFF2-40B4-BE49-F238E27FC236}">
                <a16:creationId xmlns:a16="http://schemas.microsoft.com/office/drawing/2014/main" id="{FDD8E63B-E32B-403A-758B-6F5147937892}"/>
              </a:ext>
            </a:extLst>
          </p:cNvPr>
          <p:cNvSpPr/>
          <p:nvPr/>
        </p:nvSpPr>
        <p:spPr>
          <a:xfrm>
            <a:off x="1578544" y="6371924"/>
            <a:ext cx="9442383" cy="380198"/>
          </a:xfrm>
          <a:prstGeom prst="rightArrow">
            <a:avLst/>
          </a:prstGeom>
          <a:solidFill>
            <a:schemeClr val="accent4"/>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876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F0EB5-1553-B90F-9F7C-33B6EB779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3177E-73D2-5D3B-7826-07AE513AA20A}"/>
              </a:ext>
            </a:extLst>
          </p:cNvPr>
          <p:cNvSpPr>
            <a:spLocks noGrp="1"/>
          </p:cNvSpPr>
          <p:nvPr>
            <p:ph type="title"/>
          </p:nvPr>
        </p:nvSpPr>
        <p:spPr/>
        <p:txBody>
          <a:bodyPr/>
          <a:lstStyle/>
          <a:p>
            <a:r>
              <a:rPr lang="en-US" dirty="0"/>
              <a:t>Vegetation Index Data Pipeline</a:t>
            </a:r>
          </a:p>
        </p:txBody>
      </p:sp>
      <p:sp>
        <p:nvSpPr>
          <p:cNvPr id="3" name="Content Placeholder 2">
            <a:extLst>
              <a:ext uri="{FF2B5EF4-FFF2-40B4-BE49-F238E27FC236}">
                <a16:creationId xmlns:a16="http://schemas.microsoft.com/office/drawing/2014/main" id="{E5CAC80E-2CBF-68EF-B99B-C71A0913B0DF}"/>
              </a:ext>
            </a:extLst>
          </p:cNvPr>
          <p:cNvSpPr>
            <a:spLocks noGrp="1"/>
          </p:cNvSpPr>
          <p:nvPr>
            <p:ph sz="half" idx="1"/>
          </p:nvPr>
        </p:nvSpPr>
        <p:spPr/>
        <p:txBody>
          <a:bodyPr/>
          <a:lstStyle/>
          <a:p>
            <a:r>
              <a:rPr lang="en-US" dirty="0"/>
              <a:t>After processing, we are left with a sample size of 48 16-day observations, which are then grouped by month and averaged.</a:t>
            </a:r>
          </a:p>
          <a:p>
            <a:r>
              <a:rPr lang="en-US" dirty="0"/>
              <a:t>Then a final average is completed for the NDVI and EVI files. Producing a dataset that represents the average vegetation index from all 48 observations.</a:t>
            </a:r>
          </a:p>
          <a:p>
            <a:endParaRPr lang="en-US" dirty="0"/>
          </a:p>
          <a:p>
            <a:endParaRPr lang="en-US" dirty="0"/>
          </a:p>
          <a:p>
            <a:endParaRPr lang="en-US" dirty="0"/>
          </a:p>
        </p:txBody>
      </p:sp>
    </p:spTree>
    <p:extLst>
      <p:ext uri="{BB962C8B-B14F-4D97-AF65-F5344CB8AC3E}">
        <p14:creationId xmlns:p14="http://schemas.microsoft.com/office/powerpoint/2010/main" val="852993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030C-B9A0-335B-FE48-D38E4D534C64}"/>
              </a:ext>
            </a:extLst>
          </p:cNvPr>
          <p:cNvSpPr>
            <a:spLocks noGrp="1"/>
          </p:cNvSpPr>
          <p:nvPr>
            <p:ph type="title"/>
          </p:nvPr>
        </p:nvSpPr>
        <p:spPr>
          <a:xfrm>
            <a:off x="542159" y="929519"/>
            <a:ext cx="10786241" cy="896106"/>
          </a:xfrm>
        </p:spPr>
        <p:txBody>
          <a:bodyPr>
            <a:normAutofit/>
          </a:bodyPr>
          <a:lstStyle/>
          <a:p>
            <a:r>
              <a:rPr lang="en-US" dirty="0"/>
              <a:t>Methods</a:t>
            </a:r>
          </a:p>
        </p:txBody>
      </p:sp>
      <p:pic>
        <p:nvPicPr>
          <p:cNvPr id="6" name="Content Placeholder 5">
            <a:extLst>
              <a:ext uri="{FF2B5EF4-FFF2-40B4-BE49-F238E27FC236}">
                <a16:creationId xmlns:a16="http://schemas.microsoft.com/office/drawing/2014/main" id="{65371EF2-3BBB-B698-F7A1-4F746BB4AA4F}"/>
              </a:ext>
            </a:extLst>
          </p:cNvPr>
          <p:cNvPicPr>
            <a:picLocks noGrp="1" noChangeAspect="1"/>
          </p:cNvPicPr>
          <p:nvPr>
            <p:ph sz="half" idx="1"/>
          </p:nvPr>
        </p:nvPicPr>
        <p:blipFill>
          <a:blip r:embed="rId2"/>
          <a:stretch>
            <a:fillRect/>
          </a:stretch>
        </p:blipFill>
        <p:spPr>
          <a:xfrm>
            <a:off x="442393" y="1737231"/>
            <a:ext cx="5729807" cy="4326003"/>
          </a:xfrm>
          <a:prstGeom prst="rect">
            <a:avLst/>
          </a:prstGeom>
          <a:noFill/>
        </p:spPr>
      </p:pic>
      <p:sp>
        <p:nvSpPr>
          <p:cNvPr id="3" name="Content Placeholder 2">
            <a:extLst>
              <a:ext uri="{FF2B5EF4-FFF2-40B4-BE49-F238E27FC236}">
                <a16:creationId xmlns:a16="http://schemas.microsoft.com/office/drawing/2014/main" id="{36AC4B68-97DD-DDFE-2287-F46BB8972EBE}"/>
              </a:ext>
            </a:extLst>
          </p:cNvPr>
          <p:cNvSpPr>
            <a:spLocks noGrp="1"/>
          </p:cNvSpPr>
          <p:nvPr>
            <p:ph sz="half" idx="2"/>
          </p:nvPr>
        </p:nvSpPr>
        <p:spPr>
          <a:xfrm>
            <a:off x="6172200" y="1825625"/>
            <a:ext cx="5181600" cy="4642552"/>
          </a:xfrm>
        </p:spPr>
        <p:txBody>
          <a:bodyPr>
            <a:normAutofit/>
          </a:bodyPr>
          <a:lstStyle/>
          <a:p>
            <a:r>
              <a:rPr lang="en-US" dirty="0"/>
              <a:t>The sandhills region is defined by using the level IV ecoregion shapefile provided by the EPA</a:t>
            </a:r>
          </a:p>
          <a:p>
            <a:r>
              <a:rPr lang="en-US" dirty="0"/>
              <a:t>An area is defined 75 km around the region to serve as a control group</a:t>
            </a:r>
          </a:p>
          <a:p>
            <a:pPr lvl="1"/>
            <a:r>
              <a:rPr lang="en-US" dirty="0"/>
              <a:t>75 km is chosen to avoid comparing temperatures affected by the higher elevations to the west and the ocean to the east</a:t>
            </a:r>
          </a:p>
        </p:txBody>
      </p:sp>
      <p:pic>
        <p:nvPicPr>
          <p:cNvPr id="8" name="Picture 7">
            <a:extLst>
              <a:ext uri="{FF2B5EF4-FFF2-40B4-BE49-F238E27FC236}">
                <a16:creationId xmlns:a16="http://schemas.microsoft.com/office/drawing/2014/main" id="{462B037D-0E40-8C3A-01DE-7A4A2DBF87C0}"/>
              </a:ext>
            </a:extLst>
          </p:cNvPr>
          <p:cNvPicPr>
            <a:picLocks noChangeAspect="1"/>
          </p:cNvPicPr>
          <p:nvPr/>
        </p:nvPicPr>
        <p:blipFill>
          <a:blip r:embed="rId3"/>
          <a:stretch>
            <a:fillRect/>
          </a:stretch>
        </p:blipFill>
        <p:spPr>
          <a:xfrm>
            <a:off x="442393" y="1737231"/>
            <a:ext cx="5729807" cy="4324951"/>
          </a:xfrm>
          <a:prstGeom prst="rect">
            <a:avLst/>
          </a:prstGeom>
        </p:spPr>
      </p:pic>
    </p:spTree>
    <p:extLst>
      <p:ext uri="{BB962C8B-B14F-4D97-AF65-F5344CB8AC3E}">
        <p14:creationId xmlns:p14="http://schemas.microsoft.com/office/powerpoint/2010/main" val="160823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A840-7143-410E-B8F2-DAA6718F2D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66F73B-8B66-2364-43CE-14616A593705}"/>
              </a:ext>
            </a:extLst>
          </p:cNvPr>
          <p:cNvSpPr txBox="1"/>
          <p:nvPr/>
        </p:nvSpPr>
        <p:spPr>
          <a:xfrm>
            <a:off x="1582479" y="2505670"/>
            <a:ext cx="9027042" cy="923330"/>
          </a:xfrm>
          <a:prstGeom prst="rect">
            <a:avLst/>
          </a:prstGeom>
          <a:noFill/>
        </p:spPr>
        <p:txBody>
          <a:bodyPr wrap="square" rtlCol="0">
            <a:spAutoFit/>
          </a:bodyPr>
          <a:lstStyle/>
          <a:p>
            <a:r>
              <a:rPr lang="en-US" sz="5400" dirty="0">
                <a:solidFill>
                  <a:schemeClr val="bg1"/>
                </a:solidFill>
                <a:latin typeface="Public Sans Black"/>
              </a:rPr>
              <a:t>Results</a:t>
            </a:r>
            <a:endParaRPr lang="en-US" sz="5400" dirty="0">
              <a:solidFill>
                <a:schemeClr val="bg1"/>
              </a:solidFill>
            </a:endParaRPr>
          </a:p>
        </p:txBody>
      </p:sp>
    </p:spTree>
    <p:extLst>
      <p:ext uri="{BB962C8B-B14F-4D97-AF65-F5344CB8AC3E}">
        <p14:creationId xmlns:p14="http://schemas.microsoft.com/office/powerpoint/2010/main" val="2226108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09B5D-1E17-DAAE-C26B-B9803F39F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35C66-3BC9-01BB-FBAF-68872A2B3A0E}"/>
              </a:ext>
            </a:extLst>
          </p:cNvPr>
          <p:cNvSpPr>
            <a:spLocks noGrp="1"/>
          </p:cNvSpPr>
          <p:nvPr>
            <p:ph type="title"/>
          </p:nvPr>
        </p:nvSpPr>
        <p:spPr>
          <a:xfrm>
            <a:off x="542159" y="929519"/>
            <a:ext cx="10786241" cy="896106"/>
          </a:xfrm>
        </p:spPr>
        <p:txBody>
          <a:bodyPr>
            <a:normAutofit/>
          </a:bodyPr>
          <a:lstStyle/>
          <a:p>
            <a:r>
              <a:rPr lang="en-US" dirty="0"/>
              <a:t>Daytime Land Surface Temperature</a:t>
            </a:r>
          </a:p>
        </p:txBody>
      </p:sp>
      <p:sp>
        <p:nvSpPr>
          <p:cNvPr id="3" name="Content Placeholder 2">
            <a:extLst>
              <a:ext uri="{FF2B5EF4-FFF2-40B4-BE49-F238E27FC236}">
                <a16:creationId xmlns:a16="http://schemas.microsoft.com/office/drawing/2014/main" id="{9D4CE69E-C14F-E02F-80C9-EAA1943D031A}"/>
              </a:ext>
            </a:extLst>
          </p:cNvPr>
          <p:cNvSpPr>
            <a:spLocks noGrp="1"/>
          </p:cNvSpPr>
          <p:nvPr>
            <p:ph sz="half" idx="2"/>
          </p:nvPr>
        </p:nvSpPr>
        <p:spPr>
          <a:xfrm>
            <a:off x="6172200" y="1825625"/>
            <a:ext cx="5181600" cy="4642552"/>
          </a:xfrm>
        </p:spPr>
        <p:txBody>
          <a:bodyPr>
            <a:normAutofit/>
          </a:bodyPr>
          <a:lstStyle/>
          <a:p>
            <a:r>
              <a:rPr lang="en-US" dirty="0"/>
              <a:t>Sandhills region has an average daytime summer temperature 1.02°C higher than the control region</a:t>
            </a:r>
          </a:p>
          <a:p>
            <a:endParaRPr lang="en-US" dirty="0"/>
          </a:p>
        </p:txBody>
      </p:sp>
      <p:pic>
        <p:nvPicPr>
          <p:cNvPr id="9" name="Content Placeholder 8">
            <a:extLst>
              <a:ext uri="{FF2B5EF4-FFF2-40B4-BE49-F238E27FC236}">
                <a16:creationId xmlns:a16="http://schemas.microsoft.com/office/drawing/2014/main" id="{97881A45-B7AD-0A5A-0460-D37C71628BD2}"/>
              </a:ext>
            </a:extLst>
          </p:cNvPr>
          <p:cNvPicPr>
            <a:picLocks noGrp="1" noChangeAspect="1"/>
          </p:cNvPicPr>
          <p:nvPr>
            <p:ph sz="half" idx="1"/>
          </p:nvPr>
        </p:nvPicPr>
        <p:blipFill>
          <a:blip r:embed="rId2"/>
          <a:srcRect l="11149" t="13630" b="15672"/>
          <a:stretch>
            <a:fillRect/>
          </a:stretch>
        </p:blipFill>
        <p:spPr>
          <a:xfrm>
            <a:off x="0" y="2048029"/>
            <a:ext cx="6096000" cy="3880452"/>
          </a:xfrm>
          <a:prstGeom prst="rect">
            <a:avLst/>
          </a:prstGeom>
        </p:spPr>
      </p:pic>
    </p:spTree>
    <p:extLst>
      <p:ext uri="{BB962C8B-B14F-4D97-AF65-F5344CB8AC3E}">
        <p14:creationId xmlns:p14="http://schemas.microsoft.com/office/powerpoint/2010/main" val="3053727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E0098-2E45-7148-19FB-518AEBB63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12884-D014-63FF-6DAD-BB9601ABC7F0}"/>
              </a:ext>
            </a:extLst>
          </p:cNvPr>
          <p:cNvSpPr>
            <a:spLocks noGrp="1"/>
          </p:cNvSpPr>
          <p:nvPr>
            <p:ph type="title"/>
          </p:nvPr>
        </p:nvSpPr>
        <p:spPr>
          <a:xfrm>
            <a:off x="542159" y="929519"/>
            <a:ext cx="10786241" cy="896106"/>
          </a:xfrm>
        </p:spPr>
        <p:txBody>
          <a:bodyPr>
            <a:normAutofit/>
          </a:bodyPr>
          <a:lstStyle/>
          <a:p>
            <a:r>
              <a:rPr lang="en-US" dirty="0"/>
              <a:t>Nighttime Land Surface Temperature</a:t>
            </a:r>
          </a:p>
        </p:txBody>
      </p:sp>
      <p:sp>
        <p:nvSpPr>
          <p:cNvPr id="3" name="Content Placeholder 2">
            <a:extLst>
              <a:ext uri="{FF2B5EF4-FFF2-40B4-BE49-F238E27FC236}">
                <a16:creationId xmlns:a16="http://schemas.microsoft.com/office/drawing/2014/main" id="{A6B67818-2C55-9BFB-762B-253D65043B3C}"/>
              </a:ext>
            </a:extLst>
          </p:cNvPr>
          <p:cNvSpPr>
            <a:spLocks noGrp="1"/>
          </p:cNvSpPr>
          <p:nvPr>
            <p:ph sz="half" idx="2"/>
          </p:nvPr>
        </p:nvSpPr>
        <p:spPr>
          <a:xfrm>
            <a:off x="6172200" y="1825625"/>
            <a:ext cx="5181600" cy="4642552"/>
          </a:xfrm>
        </p:spPr>
        <p:txBody>
          <a:bodyPr>
            <a:normAutofit/>
          </a:bodyPr>
          <a:lstStyle/>
          <a:p>
            <a:r>
              <a:rPr lang="en-US" dirty="0"/>
              <a:t>Sandhills region has an average nighttime summer temperature 0.26°C lower than the control region</a:t>
            </a:r>
          </a:p>
          <a:p>
            <a:endParaRPr lang="en-US" dirty="0"/>
          </a:p>
        </p:txBody>
      </p:sp>
      <p:pic>
        <p:nvPicPr>
          <p:cNvPr id="7" name="Content Placeholder 6">
            <a:extLst>
              <a:ext uri="{FF2B5EF4-FFF2-40B4-BE49-F238E27FC236}">
                <a16:creationId xmlns:a16="http://schemas.microsoft.com/office/drawing/2014/main" id="{2F6CECE0-6DC6-3DD5-8C14-8CBDCD99B922}"/>
              </a:ext>
            </a:extLst>
          </p:cNvPr>
          <p:cNvPicPr>
            <a:picLocks noGrp="1" noChangeAspect="1"/>
          </p:cNvPicPr>
          <p:nvPr>
            <p:ph sz="half" idx="1"/>
          </p:nvPr>
        </p:nvPicPr>
        <p:blipFill>
          <a:blip r:embed="rId2"/>
          <a:srcRect l="11501" t="14078" b="15799"/>
          <a:stretch>
            <a:fillRect/>
          </a:stretch>
        </p:blipFill>
        <p:spPr>
          <a:xfrm>
            <a:off x="0" y="2064234"/>
            <a:ext cx="6096000" cy="3864247"/>
          </a:xfrm>
          <a:prstGeom prst="rect">
            <a:avLst/>
          </a:prstGeom>
        </p:spPr>
      </p:pic>
    </p:spTree>
    <p:extLst>
      <p:ext uri="{BB962C8B-B14F-4D97-AF65-F5344CB8AC3E}">
        <p14:creationId xmlns:p14="http://schemas.microsoft.com/office/powerpoint/2010/main" val="3647382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3BADE-9BE5-D587-6BE1-9EAC1CE52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5275C-F615-17C8-E6C8-2796FDD34628}"/>
              </a:ext>
            </a:extLst>
          </p:cNvPr>
          <p:cNvSpPr>
            <a:spLocks noGrp="1"/>
          </p:cNvSpPr>
          <p:nvPr>
            <p:ph type="title"/>
          </p:nvPr>
        </p:nvSpPr>
        <p:spPr>
          <a:xfrm>
            <a:off x="542159" y="929519"/>
            <a:ext cx="10786241" cy="896106"/>
          </a:xfrm>
        </p:spPr>
        <p:txBody>
          <a:bodyPr>
            <a:normAutofit fontScale="90000"/>
          </a:bodyPr>
          <a:lstStyle/>
          <a:p>
            <a:r>
              <a:rPr lang="en-US" dirty="0"/>
              <a:t>Diurnal Land Surface Temperature Range</a:t>
            </a:r>
          </a:p>
        </p:txBody>
      </p:sp>
      <p:sp>
        <p:nvSpPr>
          <p:cNvPr id="3" name="Content Placeholder 2">
            <a:extLst>
              <a:ext uri="{FF2B5EF4-FFF2-40B4-BE49-F238E27FC236}">
                <a16:creationId xmlns:a16="http://schemas.microsoft.com/office/drawing/2014/main" id="{A28D2632-16AB-18F9-B93A-79A00FF95280}"/>
              </a:ext>
            </a:extLst>
          </p:cNvPr>
          <p:cNvSpPr>
            <a:spLocks noGrp="1"/>
          </p:cNvSpPr>
          <p:nvPr>
            <p:ph sz="half" idx="2"/>
          </p:nvPr>
        </p:nvSpPr>
        <p:spPr>
          <a:xfrm>
            <a:off x="6172200" y="1825625"/>
            <a:ext cx="5181600" cy="4642552"/>
          </a:xfrm>
        </p:spPr>
        <p:txBody>
          <a:bodyPr>
            <a:normAutofit/>
          </a:bodyPr>
          <a:lstStyle/>
          <a:p>
            <a:r>
              <a:rPr lang="en-US" dirty="0"/>
              <a:t>As expected, the sandhills region has a larger diurnal range than the control region. </a:t>
            </a:r>
          </a:p>
        </p:txBody>
      </p:sp>
      <p:pic>
        <p:nvPicPr>
          <p:cNvPr id="12" name="Content Placeholder 11">
            <a:extLst>
              <a:ext uri="{FF2B5EF4-FFF2-40B4-BE49-F238E27FC236}">
                <a16:creationId xmlns:a16="http://schemas.microsoft.com/office/drawing/2014/main" id="{0B3C9AB7-0214-8AC0-102C-71EB398B6FB7}"/>
              </a:ext>
            </a:extLst>
          </p:cNvPr>
          <p:cNvPicPr>
            <a:picLocks noGrp="1" noChangeAspect="1"/>
          </p:cNvPicPr>
          <p:nvPr>
            <p:ph sz="half" idx="1"/>
          </p:nvPr>
        </p:nvPicPr>
        <p:blipFill>
          <a:blip r:embed="rId2"/>
          <a:srcRect l="11687" t="10130" r="2864" b="15799"/>
          <a:stretch>
            <a:fillRect/>
          </a:stretch>
        </p:blipFill>
        <p:spPr>
          <a:xfrm>
            <a:off x="37652" y="1825625"/>
            <a:ext cx="5982149" cy="4148489"/>
          </a:xfrm>
          <a:prstGeom prst="rect">
            <a:avLst/>
          </a:prstGeom>
        </p:spPr>
      </p:pic>
    </p:spTree>
    <p:extLst>
      <p:ext uri="{BB962C8B-B14F-4D97-AF65-F5344CB8AC3E}">
        <p14:creationId xmlns:p14="http://schemas.microsoft.com/office/powerpoint/2010/main" val="804709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3D15-D159-2FD2-CE02-17083DD32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58542-9541-89FD-6769-A8583F56E70E}"/>
              </a:ext>
            </a:extLst>
          </p:cNvPr>
          <p:cNvSpPr>
            <a:spLocks noGrp="1"/>
          </p:cNvSpPr>
          <p:nvPr>
            <p:ph type="title"/>
          </p:nvPr>
        </p:nvSpPr>
        <p:spPr>
          <a:xfrm>
            <a:off x="542159" y="929519"/>
            <a:ext cx="10786241" cy="896106"/>
          </a:xfrm>
        </p:spPr>
        <p:txBody>
          <a:bodyPr>
            <a:normAutofit/>
          </a:bodyPr>
          <a:lstStyle/>
          <a:p>
            <a:r>
              <a:rPr lang="en-US" dirty="0"/>
              <a:t>NDVI</a:t>
            </a:r>
          </a:p>
        </p:txBody>
      </p:sp>
      <p:sp>
        <p:nvSpPr>
          <p:cNvPr id="3" name="Content Placeholder 2">
            <a:extLst>
              <a:ext uri="{FF2B5EF4-FFF2-40B4-BE49-F238E27FC236}">
                <a16:creationId xmlns:a16="http://schemas.microsoft.com/office/drawing/2014/main" id="{98780105-8143-5D99-9065-81FF6516314B}"/>
              </a:ext>
            </a:extLst>
          </p:cNvPr>
          <p:cNvSpPr>
            <a:spLocks noGrp="1"/>
          </p:cNvSpPr>
          <p:nvPr>
            <p:ph sz="half" idx="2"/>
          </p:nvPr>
        </p:nvSpPr>
        <p:spPr>
          <a:xfrm>
            <a:off x="6172200" y="1825625"/>
            <a:ext cx="5181600" cy="4642552"/>
          </a:xfrm>
        </p:spPr>
        <p:txBody>
          <a:bodyPr>
            <a:normAutofit fontScale="92500"/>
          </a:bodyPr>
          <a:lstStyle/>
          <a:p>
            <a:r>
              <a:rPr lang="en-US" dirty="0"/>
              <a:t>Sandhills region has a slightly lower average summertime NDVI than the control, 0.04 NDVI units lower. </a:t>
            </a:r>
          </a:p>
          <a:p>
            <a:r>
              <a:rPr lang="en-US" dirty="0"/>
              <a:t>The small difference does not surprise me, as the longleaf pine forests and savannas that dominated this region are shrinking (Oswalt et al., 2022) and being replaced by more traditional vegetation</a:t>
            </a:r>
          </a:p>
        </p:txBody>
      </p:sp>
      <p:pic>
        <p:nvPicPr>
          <p:cNvPr id="7" name="Content Placeholder 6">
            <a:extLst>
              <a:ext uri="{FF2B5EF4-FFF2-40B4-BE49-F238E27FC236}">
                <a16:creationId xmlns:a16="http://schemas.microsoft.com/office/drawing/2014/main" id="{7ECED30A-D16A-C602-1ED4-869D3BEC6C7B}"/>
              </a:ext>
            </a:extLst>
          </p:cNvPr>
          <p:cNvPicPr>
            <a:picLocks noGrp="1" noChangeAspect="1"/>
          </p:cNvPicPr>
          <p:nvPr>
            <p:ph sz="half" idx="1"/>
          </p:nvPr>
        </p:nvPicPr>
        <p:blipFill>
          <a:blip r:embed="rId2"/>
          <a:srcRect l="11687" t="14078" r="4350" b="15102"/>
          <a:stretch>
            <a:fillRect/>
          </a:stretch>
        </p:blipFill>
        <p:spPr>
          <a:xfrm>
            <a:off x="1" y="1825625"/>
            <a:ext cx="6172200" cy="4164868"/>
          </a:xfrm>
          <a:prstGeom prst="rect">
            <a:avLst/>
          </a:prstGeom>
        </p:spPr>
      </p:pic>
    </p:spTree>
    <p:extLst>
      <p:ext uri="{BB962C8B-B14F-4D97-AF65-F5344CB8AC3E}">
        <p14:creationId xmlns:p14="http://schemas.microsoft.com/office/powerpoint/2010/main" val="2437680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38639-49EF-C156-528D-052C247BE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4C25B-2907-32D4-F315-17DF6867DA4E}"/>
              </a:ext>
            </a:extLst>
          </p:cNvPr>
          <p:cNvSpPr>
            <a:spLocks noGrp="1"/>
          </p:cNvSpPr>
          <p:nvPr>
            <p:ph type="title"/>
          </p:nvPr>
        </p:nvSpPr>
        <p:spPr>
          <a:xfrm>
            <a:off x="542159" y="929519"/>
            <a:ext cx="10786241" cy="896106"/>
          </a:xfrm>
        </p:spPr>
        <p:txBody>
          <a:bodyPr>
            <a:normAutofit/>
          </a:bodyPr>
          <a:lstStyle/>
          <a:p>
            <a:r>
              <a:rPr lang="en-US" dirty="0"/>
              <a:t>NDVI vs LST</a:t>
            </a:r>
          </a:p>
        </p:txBody>
      </p:sp>
      <p:pic>
        <p:nvPicPr>
          <p:cNvPr id="8" name="Content Placeholder 7">
            <a:extLst>
              <a:ext uri="{FF2B5EF4-FFF2-40B4-BE49-F238E27FC236}">
                <a16:creationId xmlns:a16="http://schemas.microsoft.com/office/drawing/2014/main" id="{193AE0F6-6AB3-069E-3C26-997F09610B59}"/>
              </a:ext>
            </a:extLst>
          </p:cNvPr>
          <p:cNvPicPr>
            <a:picLocks noGrp="1" noChangeAspect="1"/>
          </p:cNvPicPr>
          <p:nvPr>
            <p:ph sz="half" idx="1"/>
          </p:nvPr>
        </p:nvPicPr>
        <p:blipFill>
          <a:blip r:embed="rId3"/>
          <a:stretch>
            <a:fillRect/>
          </a:stretch>
        </p:blipFill>
        <p:spPr>
          <a:xfrm>
            <a:off x="-2" y="1744579"/>
            <a:ext cx="6083808" cy="4562856"/>
          </a:xfrm>
          <a:prstGeom prst="rect">
            <a:avLst/>
          </a:prstGeom>
        </p:spPr>
      </p:pic>
      <p:pic>
        <p:nvPicPr>
          <p:cNvPr id="12" name="Picture 11">
            <a:extLst>
              <a:ext uri="{FF2B5EF4-FFF2-40B4-BE49-F238E27FC236}">
                <a16:creationId xmlns:a16="http://schemas.microsoft.com/office/drawing/2014/main" id="{A705D397-8E13-C635-211B-3973B767337E}"/>
              </a:ext>
            </a:extLst>
          </p:cNvPr>
          <p:cNvPicPr>
            <a:picLocks noChangeAspect="1"/>
          </p:cNvPicPr>
          <p:nvPr/>
        </p:nvPicPr>
        <p:blipFill>
          <a:blip r:embed="rId4"/>
          <a:stretch>
            <a:fillRect/>
          </a:stretch>
        </p:blipFill>
        <p:spPr>
          <a:xfrm>
            <a:off x="6083806" y="1744579"/>
            <a:ext cx="6082224" cy="4561668"/>
          </a:xfrm>
          <a:prstGeom prst="rect">
            <a:avLst/>
          </a:prstGeom>
        </p:spPr>
      </p:pic>
      <p:sp>
        <p:nvSpPr>
          <p:cNvPr id="13" name="Rounded Rectangle 12">
            <a:extLst>
              <a:ext uri="{FF2B5EF4-FFF2-40B4-BE49-F238E27FC236}">
                <a16:creationId xmlns:a16="http://schemas.microsoft.com/office/drawing/2014/main" id="{E162723A-FCD5-EEB6-087A-3D7D0FCCB737}"/>
              </a:ext>
            </a:extLst>
          </p:cNvPr>
          <p:cNvSpPr/>
          <p:nvPr/>
        </p:nvSpPr>
        <p:spPr>
          <a:xfrm>
            <a:off x="702644" y="4908884"/>
            <a:ext cx="3638350" cy="808522"/>
          </a:xfrm>
          <a:prstGeom prst="roundRect">
            <a:avLst/>
          </a:prstGeom>
          <a:solidFill>
            <a:srgbClr val="00B0F0">
              <a:alpha val="25752"/>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EF19A20-0ABF-0B3C-52DA-E1740153D884}"/>
              </a:ext>
            </a:extLst>
          </p:cNvPr>
          <p:cNvSpPr/>
          <p:nvPr/>
        </p:nvSpPr>
        <p:spPr>
          <a:xfrm>
            <a:off x="96253" y="6208295"/>
            <a:ext cx="2425566" cy="52938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Water Signature</a:t>
            </a:r>
          </a:p>
        </p:txBody>
      </p:sp>
      <p:cxnSp>
        <p:nvCxnSpPr>
          <p:cNvPr id="16" name="Straight Arrow Connector 15">
            <a:extLst>
              <a:ext uri="{FF2B5EF4-FFF2-40B4-BE49-F238E27FC236}">
                <a16:creationId xmlns:a16="http://schemas.microsoft.com/office/drawing/2014/main" id="{CFDF5525-34C2-3C63-79CD-291DD8A2F69F}"/>
              </a:ext>
            </a:extLst>
          </p:cNvPr>
          <p:cNvCxnSpPr>
            <a:cxnSpLocks/>
          </p:cNvCxnSpPr>
          <p:nvPr/>
        </p:nvCxnSpPr>
        <p:spPr>
          <a:xfrm flipH="1" flipV="1">
            <a:off x="1597793" y="5746282"/>
            <a:ext cx="192505" cy="4331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352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7A524-13AF-BB25-E7BE-97B2573C58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D14544-403D-0030-4C7D-803BB20F0602}"/>
              </a:ext>
            </a:extLst>
          </p:cNvPr>
          <p:cNvSpPr txBox="1"/>
          <p:nvPr/>
        </p:nvSpPr>
        <p:spPr>
          <a:xfrm>
            <a:off x="1582479" y="2505670"/>
            <a:ext cx="9027042" cy="923330"/>
          </a:xfrm>
          <a:prstGeom prst="rect">
            <a:avLst/>
          </a:prstGeom>
          <a:noFill/>
        </p:spPr>
        <p:txBody>
          <a:bodyPr wrap="square" rtlCol="0">
            <a:spAutoFit/>
          </a:bodyPr>
          <a:lstStyle/>
          <a:p>
            <a:r>
              <a:rPr lang="en-US" sz="5400" dirty="0">
                <a:solidFill>
                  <a:schemeClr val="bg1"/>
                </a:solidFill>
                <a:latin typeface="Public Sans Black"/>
              </a:rPr>
              <a:t>Conclusion</a:t>
            </a:r>
            <a:endParaRPr lang="en-US" sz="5400" dirty="0">
              <a:solidFill>
                <a:schemeClr val="bg1"/>
              </a:solidFill>
            </a:endParaRPr>
          </a:p>
        </p:txBody>
      </p:sp>
    </p:spTree>
    <p:extLst>
      <p:ext uri="{BB962C8B-B14F-4D97-AF65-F5344CB8AC3E}">
        <p14:creationId xmlns:p14="http://schemas.microsoft.com/office/powerpoint/2010/main" val="394541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B096-56E6-3DAB-9780-DE4D994D399D}"/>
              </a:ext>
            </a:extLst>
          </p:cNvPr>
          <p:cNvSpPr>
            <a:spLocks noGrp="1"/>
          </p:cNvSpPr>
          <p:nvPr>
            <p:ph type="title"/>
          </p:nvPr>
        </p:nvSpPr>
        <p:spPr/>
        <p:txBody>
          <a:bodyPr/>
          <a:lstStyle/>
          <a:p>
            <a:r>
              <a:rPr lang="en-US" dirty="0"/>
              <a:t>Conclusions - LST</a:t>
            </a:r>
          </a:p>
        </p:txBody>
      </p:sp>
      <p:sp>
        <p:nvSpPr>
          <p:cNvPr id="3" name="Content Placeholder 2">
            <a:extLst>
              <a:ext uri="{FF2B5EF4-FFF2-40B4-BE49-F238E27FC236}">
                <a16:creationId xmlns:a16="http://schemas.microsoft.com/office/drawing/2014/main" id="{CFE8E883-3373-F4B6-21CE-CCD8AC7E71B5}"/>
              </a:ext>
            </a:extLst>
          </p:cNvPr>
          <p:cNvSpPr>
            <a:spLocks noGrp="1"/>
          </p:cNvSpPr>
          <p:nvPr>
            <p:ph sz="half" idx="1"/>
          </p:nvPr>
        </p:nvSpPr>
        <p:spPr/>
        <p:txBody>
          <a:bodyPr/>
          <a:lstStyle/>
          <a:p>
            <a:r>
              <a:rPr lang="en-US" dirty="0"/>
              <a:t>The sandhills region does see warmer temperatures during the day when compared to the surrounding areas</a:t>
            </a:r>
          </a:p>
          <a:p>
            <a:pPr marL="0" indent="0">
              <a:buNone/>
            </a:pPr>
            <a:endParaRPr lang="en-US" dirty="0"/>
          </a:p>
          <a:p>
            <a:pPr marL="0" indent="0">
              <a:buNone/>
            </a:pPr>
            <a:endParaRPr lang="en-US" dirty="0"/>
          </a:p>
          <a:p>
            <a:r>
              <a:rPr lang="en-US" dirty="0"/>
              <a:t>The region has slightly lower but similar nighttime temperatures to the surroundings, and thus has a larger diurnal temperature range as well</a:t>
            </a:r>
          </a:p>
        </p:txBody>
      </p:sp>
    </p:spTree>
    <p:extLst>
      <p:ext uri="{BB962C8B-B14F-4D97-AF65-F5344CB8AC3E}">
        <p14:creationId xmlns:p14="http://schemas.microsoft.com/office/powerpoint/2010/main" val="324364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DDCB8-CD4D-DAB2-7E60-B5BB556B3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7A831-6343-1058-03FF-E9844FA48D8D}"/>
              </a:ext>
            </a:extLst>
          </p:cNvPr>
          <p:cNvSpPr>
            <a:spLocks noGrp="1"/>
          </p:cNvSpPr>
          <p:nvPr>
            <p:ph type="title"/>
          </p:nvPr>
        </p:nvSpPr>
        <p:spPr/>
        <p:txBody>
          <a:bodyPr/>
          <a:lstStyle/>
          <a:p>
            <a:r>
              <a:rPr lang="en-US" dirty="0"/>
              <a:t>Conclusions - NDVI</a:t>
            </a:r>
          </a:p>
        </p:txBody>
      </p:sp>
      <p:sp>
        <p:nvSpPr>
          <p:cNvPr id="3" name="Content Placeholder 2">
            <a:extLst>
              <a:ext uri="{FF2B5EF4-FFF2-40B4-BE49-F238E27FC236}">
                <a16:creationId xmlns:a16="http://schemas.microsoft.com/office/drawing/2014/main" id="{03B7F17C-6CF1-24E6-3B63-8A34F07AB3EB}"/>
              </a:ext>
            </a:extLst>
          </p:cNvPr>
          <p:cNvSpPr>
            <a:spLocks noGrp="1"/>
          </p:cNvSpPr>
          <p:nvPr>
            <p:ph sz="half" idx="1"/>
          </p:nvPr>
        </p:nvSpPr>
        <p:spPr/>
        <p:txBody>
          <a:bodyPr/>
          <a:lstStyle/>
          <a:p>
            <a:r>
              <a:rPr lang="en-US" dirty="0"/>
              <a:t>The sandhills region has slightly lower NDVI than the surrounding regions. This is expected as the region is dryer than the surroundings and supports browner plant life adapted for dry conditions.</a:t>
            </a:r>
          </a:p>
          <a:p>
            <a:pPr marL="0" indent="0">
              <a:buNone/>
            </a:pPr>
            <a:endParaRPr lang="en-US" dirty="0"/>
          </a:p>
          <a:p>
            <a:r>
              <a:rPr lang="en-US" dirty="0"/>
              <a:t>The small difference is not surprising, as the longleaf pine forests and savannas that dominated this region are shrinking (Oswalt et al., 2022)</a:t>
            </a:r>
          </a:p>
        </p:txBody>
      </p:sp>
    </p:spTree>
    <p:extLst>
      <p:ext uri="{BB962C8B-B14F-4D97-AF65-F5344CB8AC3E}">
        <p14:creationId xmlns:p14="http://schemas.microsoft.com/office/powerpoint/2010/main" val="2284953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06713-A9E2-D749-8797-326DBEBA9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5D633-A13F-6DF6-73AA-A7F9E3887A1D}"/>
              </a:ext>
            </a:extLst>
          </p:cNvPr>
          <p:cNvSpPr>
            <a:spLocks noGrp="1"/>
          </p:cNvSpPr>
          <p:nvPr>
            <p:ph type="title"/>
          </p:nvPr>
        </p:nvSpPr>
        <p:spPr/>
        <p:txBody>
          <a:bodyPr/>
          <a:lstStyle/>
          <a:p>
            <a:r>
              <a:rPr lang="en-US" dirty="0"/>
              <a:t>Conclusions – NDVI vs LST</a:t>
            </a:r>
          </a:p>
        </p:txBody>
      </p:sp>
      <p:sp>
        <p:nvSpPr>
          <p:cNvPr id="3" name="Content Placeholder 2">
            <a:extLst>
              <a:ext uri="{FF2B5EF4-FFF2-40B4-BE49-F238E27FC236}">
                <a16:creationId xmlns:a16="http://schemas.microsoft.com/office/drawing/2014/main" id="{828CF26B-0729-B103-9047-2165A66B6AFB}"/>
              </a:ext>
            </a:extLst>
          </p:cNvPr>
          <p:cNvSpPr>
            <a:spLocks noGrp="1"/>
          </p:cNvSpPr>
          <p:nvPr>
            <p:ph sz="half" idx="1"/>
          </p:nvPr>
        </p:nvSpPr>
        <p:spPr/>
        <p:txBody>
          <a:bodyPr/>
          <a:lstStyle/>
          <a:p>
            <a:r>
              <a:rPr lang="en-US" dirty="0"/>
              <a:t>An increase in the NDVI in the sandhills causes less cooling than an increase in the NDVI in the control region.</a:t>
            </a:r>
          </a:p>
          <a:p>
            <a:pPr marL="0" indent="0">
              <a:buNone/>
            </a:pPr>
            <a:endParaRPr lang="en-US" dirty="0"/>
          </a:p>
          <a:p>
            <a:r>
              <a:rPr lang="en-US" dirty="0"/>
              <a:t> This makes sense because the dry sandy soil in the sandhills causes vegetation to grow that is adapted to dry conditions, leading to less transpiration. This does not happen in the clay soils of the piedmont to the west or the sandy loam soils to the east where more efficient transpiration can occur. </a:t>
            </a:r>
          </a:p>
        </p:txBody>
      </p:sp>
    </p:spTree>
    <p:extLst>
      <p:ext uri="{BB962C8B-B14F-4D97-AF65-F5344CB8AC3E}">
        <p14:creationId xmlns:p14="http://schemas.microsoft.com/office/powerpoint/2010/main" val="2730066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ADF0F-B1A7-272C-688A-DC72224BDAC7}"/>
              </a:ext>
            </a:extLst>
          </p:cNvPr>
          <p:cNvSpPr>
            <a:spLocks noGrp="1"/>
          </p:cNvSpPr>
          <p:nvPr>
            <p:ph type="title"/>
          </p:nvPr>
        </p:nvSpPr>
        <p:spPr/>
        <p:txBody>
          <a:bodyPr/>
          <a:lstStyle/>
          <a:p>
            <a:r>
              <a:rPr lang="en-US" dirty="0"/>
              <a:t>Conclusion – Science Question</a:t>
            </a:r>
          </a:p>
        </p:txBody>
      </p:sp>
      <p:sp>
        <p:nvSpPr>
          <p:cNvPr id="3" name="Content Placeholder 2">
            <a:extLst>
              <a:ext uri="{FF2B5EF4-FFF2-40B4-BE49-F238E27FC236}">
                <a16:creationId xmlns:a16="http://schemas.microsoft.com/office/drawing/2014/main" id="{17FB9A33-A0E0-29B5-658E-CC9D6A9138A3}"/>
              </a:ext>
            </a:extLst>
          </p:cNvPr>
          <p:cNvSpPr>
            <a:spLocks noGrp="1"/>
          </p:cNvSpPr>
          <p:nvPr>
            <p:ph sz="half" idx="1"/>
          </p:nvPr>
        </p:nvSpPr>
        <p:spPr/>
        <p:txBody>
          <a:bodyPr/>
          <a:lstStyle/>
          <a:p>
            <a:r>
              <a:rPr lang="en-US" sz="3200" dirty="0">
                <a:solidFill>
                  <a:schemeClr val="tx2"/>
                </a:solidFill>
              </a:rPr>
              <a:t>Can we detect a signature of enhanced surface heating in the sandhills region using satellite data?</a:t>
            </a:r>
          </a:p>
          <a:p>
            <a:pPr marL="0" indent="0">
              <a:buNone/>
            </a:pPr>
            <a:endParaRPr lang="en-US" dirty="0">
              <a:solidFill>
                <a:schemeClr val="tx2"/>
              </a:solidFill>
            </a:endParaRPr>
          </a:p>
          <a:p>
            <a:r>
              <a:rPr lang="en-US" dirty="0"/>
              <a:t>Yes, there is a clear summer daytime heating difference between the sandhills region and its surroundings that can be detected via land surface temperature data.</a:t>
            </a:r>
          </a:p>
          <a:p>
            <a:pPr marL="0" indent="0">
              <a:buNone/>
            </a:pPr>
            <a:endParaRPr lang="en-US" dirty="0"/>
          </a:p>
        </p:txBody>
      </p:sp>
    </p:spTree>
    <p:extLst>
      <p:ext uri="{BB962C8B-B14F-4D97-AF65-F5344CB8AC3E}">
        <p14:creationId xmlns:p14="http://schemas.microsoft.com/office/powerpoint/2010/main" val="510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562EC-65E5-D2FF-7105-44D290D453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9A6653-FC5B-B947-8571-333A442E11C3}"/>
              </a:ext>
            </a:extLst>
          </p:cNvPr>
          <p:cNvSpPr txBox="1"/>
          <p:nvPr/>
        </p:nvSpPr>
        <p:spPr>
          <a:xfrm>
            <a:off x="1582479" y="2505670"/>
            <a:ext cx="9027042" cy="923330"/>
          </a:xfrm>
          <a:prstGeom prst="rect">
            <a:avLst/>
          </a:prstGeom>
          <a:noFill/>
        </p:spPr>
        <p:txBody>
          <a:bodyPr wrap="square" rtlCol="0">
            <a:spAutoFit/>
          </a:bodyPr>
          <a:lstStyle/>
          <a:p>
            <a:r>
              <a:rPr lang="en-US" sz="5400" dirty="0">
                <a:solidFill>
                  <a:schemeClr val="bg1"/>
                </a:solidFill>
                <a:latin typeface="Public Sans Black"/>
              </a:rPr>
              <a:t>Sources</a:t>
            </a:r>
            <a:endParaRPr lang="en-US" sz="5400" dirty="0">
              <a:solidFill>
                <a:schemeClr val="bg1"/>
              </a:solidFill>
            </a:endParaRPr>
          </a:p>
        </p:txBody>
      </p:sp>
    </p:spTree>
    <p:extLst>
      <p:ext uri="{BB962C8B-B14F-4D97-AF65-F5344CB8AC3E}">
        <p14:creationId xmlns:p14="http://schemas.microsoft.com/office/powerpoint/2010/main" val="2438095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F68E-308B-EABB-41C5-61B9BC3D17BE}"/>
              </a:ext>
            </a:extLst>
          </p:cNvPr>
          <p:cNvSpPr>
            <a:spLocks noGrp="1"/>
          </p:cNvSpPr>
          <p:nvPr>
            <p:ph type="title"/>
          </p:nvPr>
        </p:nvSpPr>
        <p:spPr/>
        <p:txBody>
          <a:bodyPr/>
          <a:lstStyle/>
          <a:p>
            <a:r>
              <a:rPr lang="en-US" dirty="0"/>
              <a:t>Sources</a:t>
            </a:r>
          </a:p>
        </p:txBody>
      </p:sp>
      <p:sp>
        <p:nvSpPr>
          <p:cNvPr id="4" name="TextBox 3">
            <a:extLst>
              <a:ext uri="{FF2B5EF4-FFF2-40B4-BE49-F238E27FC236}">
                <a16:creationId xmlns:a16="http://schemas.microsoft.com/office/drawing/2014/main" id="{5E3E53D5-4719-9304-3556-F56E26492685}"/>
              </a:ext>
            </a:extLst>
          </p:cNvPr>
          <p:cNvSpPr txBox="1"/>
          <p:nvPr/>
        </p:nvSpPr>
        <p:spPr>
          <a:xfrm>
            <a:off x="590414" y="1577557"/>
            <a:ext cx="11059427" cy="5355312"/>
          </a:xfrm>
          <a:prstGeom prst="rect">
            <a:avLst/>
          </a:prstGeom>
          <a:noFill/>
        </p:spPr>
        <p:txBody>
          <a:bodyPr wrap="square" rtlCol="0">
            <a:spAutoFit/>
          </a:bodyPr>
          <a:lstStyle/>
          <a:p>
            <a:r>
              <a:rPr lang="en-US" dirty="0"/>
              <a:t>NASA. (2017a). </a:t>
            </a:r>
            <a:r>
              <a:rPr lang="en-US" i="1" dirty="0"/>
              <a:t>LP DAAC - MOD11A1</a:t>
            </a:r>
            <a:r>
              <a:rPr lang="en-US" dirty="0"/>
              <a:t>. </a:t>
            </a:r>
            <a:r>
              <a:rPr lang="en-US" dirty="0" err="1"/>
              <a:t>Doi.org</a:t>
            </a:r>
            <a:r>
              <a:rPr lang="en-US" dirty="0"/>
              <a:t>. </a:t>
            </a:r>
            <a:r>
              <a:rPr lang="en-US" dirty="0">
                <a:hlinkClick r:id="rId2"/>
              </a:rPr>
              <a:t>https://</a:t>
            </a:r>
            <a:r>
              <a:rPr lang="en-US" dirty="0" err="1">
                <a:hlinkClick r:id="rId2"/>
              </a:rPr>
              <a:t>doi.org</a:t>
            </a:r>
            <a:r>
              <a:rPr lang="en-US" dirty="0">
                <a:hlinkClick r:id="rId2"/>
              </a:rPr>
              <a:t>/10.5067/MODIS/MOD11A1.061</a:t>
            </a:r>
            <a:endParaRPr lang="en-US" dirty="0"/>
          </a:p>
          <a:p>
            <a:r>
              <a:rPr lang="en-US" dirty="0"/>
              <a:t>LST Data</a:t>
            </a:r>
          </a:p>
          <a:p>
            <a:endParaRPr lang="en-US" dirty="0"/>
          </a:p>
          <a:p>
            <a:r>
              <a:rPr lang="en-US" dirty="0"/>
              <a:t>NASA. (2017b). </a:t>
            </a:r>
            <a:r>
              <a:rPr lang="en-US" i="1" dirty="0"/>
              <a:t>LP DAAC - MOD13A1</a:t>
            </a:r>
            <a:r>
              <a:rPr lang="en-US" dirty="0"/>
              <a:t>. </a:t>
            </a:r>
            <a:r>
              <a:rPr lang="en-US" dirty="0" err="1"/>
              <a:t>Doi.org</a:t>
            </a:r>
            <a:r>
              <a:rPr lang="en-US" dirty="0"/>
              <a:t>. </a:t>
            </a:r>
            <a:r>
              <a:rPr lang="en-US" dirty="0">
                <a:hlinkClick r:id="rId3"/>
              </a:rPr>
              <a:t>https://</a:t>
            </a:r>
            <a:r>
              <a:rPr lang="en-US" dirty="0" err="1">
                <a:hlinkClick r:id="rId3"/>
              </a:rPr>
              <a:t>doi.org</a:t>
            </a:r>
            <a:r>
              <a:rPr lang="en-US" dirty="0">
                <a:hlinkClick r:id="rId3"/>
              </a:rPr>
              <a:t>/10.5067/MODIS/MOD13A1.061</a:t>
            </a:r>
            <a:endParaRPr lang="en-US" dirty="0"/>
          </a:p>
          <a:p>
            <a:r>
              <a:rPr lang="en-US" dirty="0"/>
              <a:t>Vegetation Index Data</a:t>
            </a:r>
          </a:p>
          <a:p>
            <a:endParaRPr lang="en-US" dirty="0"/>
          </a:p>
          <a:p>
            <a:r>
              <a:rPr lang="en-US" dirty="0"/>
              <a:t>Oswalt, C. M., Woodall, C. W. W., &amp; Brooks, H. (2022). Is the footprint of longleaf pine in the Southeastern United States still shrinking? </a:t>
            </a:r>
            <a:r>
              <a:rPr lang="en-US" i="1" dirty="0"/>
              <a:t>In Proceedings of the 17th Biennial Southern Silvicultural Research Conference. E–Gen. Tech. Rep. SRS–203. Asheville, NC: U.S. Department of Agriculture, Forest Service, Southern Research Station. 2 P.</a:t>
            </a:r>
            <a:r>
              <a:rPr lang="en-US" dirty="0"/>
              <a:t>, </a:t>
            </a:r>
            <a:r>
              <a:rPr lang="en-US" i="1" dirty="0"/>
              <a:t>2015</a:t>
            </a:r>
            <a:r>
              <a:rPr lang="en-US" dirty="0"/>
              <a:t>. </a:t>
            </a:r>
            <a:r>
              <a:rPr lang="en-US" dirty="0">
                <a:hlinkClick r:id="rId4"/>
              </a:rPr>
              <a:t>https://research.fs.usda.gov/treesearch/47668</a:t>
            </a:r>
            <a:endParaRPr lang="en-US" dirty="0"/>
          </a:p>
          <a:p>
            <a:endParaRPr lang="en-US" dirty="0"/>
          </a:p>
          <a:p>
            <a:r>
              <a:rPr lang="en-US" dirty="0"/>
              <a:t>Restoration. (2026). </a:t>
            </a:r>
            <a:r>
              <a:rPr lang="en-US" i="1" dirty="0"/>
              <a:t>Native Seed Collection - Regions Map</a:t>
            </a:r>
            <a:r>
              <a:rPr lang="en-US" dirty="0"/>
              <a:t>. </a:t>
            </a:r>
            <a:r>
              <a:rPr lang="en-US" dirty="0" err="1"/>
              <a:t>Blogspot.com</a:t>
            </a:r>
            <a:r>
              <a:rPr lang="en-US" dirty="0"/>
              <a:t>. </a:t>
            </a:r>
            <a:r>
              <a:rPr lang="en-US" dirty="0">
                <a:hlinkClick r:id="rId5"/>
              </a:rPr>
              <a:t>https://srs4158clemson.blogspot.com/2011/11/native-seed-collection-regions-map.html</a:t>
            </a:r>
            <a:endParaRPr lang="en-US" dirty="0"/>
          </a:p>
          <a:p>
            <a:endParaRPr lang="en-US" dirty="0"/>
          </a:p>
          <a:p>
            <a:r>
              <a:rPr lang="en-US" dirty="0"/>
              <a:t>US EPA. (2015, November 25). </a:t>
            </a:r>
            <a:r>
              <a:rPr lang="en-US" i="1" dirty="0"/>
              <a:t>Level III and IV Ecoregions of the Continental United States</a:t>
            </a:r>
            <a:r>
              <a:rPr lang="en-US" dirty="0"/>
              <a:t>. US EPA. </a:t>
            </a:r>
            <a:r>
              <a:rPr lang="en-US" dirty="0">
                <a:hlinkClick r:id="rId6"/>
              </a:rPr>
              <a:t>https://www.epa.gov/eco-research/level-iii-and-iv-ecoregions-continental-united-states</a:t>
            </a:r>
            <a:endParaRPr lang="en-US" dirty="0"/>
          </a:p>
          <a:p>
            <a:endParaRPr lang="en-US" dirty="0"/>
          </a:p>
          <a:p>
            <a:r>
              <a:rPr lang="en-US" dirty="0"/>
              <a:t>Wildlife, C. (2024, October 28). </a:t>
            </a:r>
            <a:r>
              <a:rPr lang="en-US" i="1" dirty="0"/>
              <a:t>The North Carolina Sandhills and Their Wildlife - North Carolina Wildlife Federation</a:t>
            </a:r>
            <a:r>
              <a:rPr lang="en-US" dirty="0"/>
              <a:t>. North Carolina Wildlife Federation. </a:t>
            </a:r>
            <a:r>
              <a:rPr lang="en-US" dirty="0">
                <a:hlinkClick r:id="rId7"/>
              </a:rPr>
              <a:t>https://</a:t>
            </a:r>
            <a:r>
              <a:rPr lang="en-US" dirty="0" err="1">
                <a:hlinkClick r:id="rId7"/>
              </a:rPr>
              <a:t>ncwf.org</a:t>
            </a:r>
            <a:r>
              <a:rPr lang="en-US" dirty="0">
                <a:hlinkClick r:id="rId7"/>
              </a:rPr>
              <a:t>/blog/sandhills/</a:t>
            </a:r>
            <a:endParaRPr lang="en-US" dirty="0"/>
          </a:p>
        </p:txBody>
      </p:sp>
    </p:spTree>
    <p:extLst>
      <p:ext uri="{BB962C8B-B14F-4D97-AF65-F5344CB8AC3E}">
        <p14:creationId xmlns:p14="http://schemas.microsoft.com/office/powerpoint/2010/main" val="3578053472"/>
      </p:ext>
    </p:extLst>
  </p:cSld>
  <p:clrMapOvr>
    <a:masterClrMapping/>
  </p:clrMapOvr>
</p:sld>
</file>

<file path=ppt/theme/theme1.xml><?xml version="1.0" encoding="utf-8"?>
<a:theme xmlns:a="http://schemas.openxmlformats.org/drawingml/2006/main" name="Office Theme">
  <a:themeElements>
    <a:clrScheme name="UAlbany Template 2021">
      <a:dk1>
        <a:srgbClr val="000000"/>
      </a:dk1>
      <a:lt1>
        <a:srgbClr val="FFFFFF"/>
      </a:lt1>
      <a:dk2>
        <a:srgbClr val="4C116F"/>
      </a:dk2>
      <a:lt2>
        <a:srgbClr val="D5D5D5"/>
      </a:lt2>
      <a:accent1>
        <a:srgbClr val="FF2600"/>
      </a:accent1>
      <a:accent2>
        <a:srgbClr val="FF9300"/>
      </a:accent2>
      <a:accent3>
        <a:srgbClr val="FFD478"/>
      </a:accent3>
      <a:accent4>
        <a:srgbClr val="D4FB78"/>
      </a:accent4>
      <a:accent5>
        <a:srgbClr val="00FA92"/>
      </a:accent5>
      <a:accent6>
        <a:srgbClr val="0096FF"/>
      </a:accent6>
      <a:hlink>
        <a:srgbClr val="EEB211"/>
      </a:hlink>
      <a:folHlink>
        <a:srgbClr val="D4D4D4"/>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C509BC5-F7B6-3C42-AE14-C7B87A196A7D}" vid="{9425ADBD-2181-BD48-B888-E92358876E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A76EFAA786CA479EB89835076BC74C" ma:contentTypeVersion="17" ma:contentTypeDescription="Create a new document." ma:contentTypeScope="" ma:versionID="e34de76b2ce5d9fc1478ee189aa68fc9">
  <xsd:schema xmlns:xsd="http://www.w3.org/2001/XMLSchema" xmlns:xs="http://www.w3.org/2001/XMLSchema" xmlns:p="http://schemas.microsoft.com/office/2006/metadata/properties" xmlns:ns2="beb7d52d-ccc6-4271-8525-2066137ae745" xmlns:ns3="4a501e4a-bed8-4683-bbdf-459146055382" targetNamespace="http://schemas.microsoft.com/office/2006/metadata/properties" ma:root="true" ma:fieldsID="b2b8d6d454e79dff483a663d954dd43f" ns2:_="" ns3:_="">
    <xsd:import namespace="beb7d52d-ccc6-4271-8525-2066137ae745"/>
    <xsd:import namespace="4a501e4a-bed8-4683-bbdf-45914605538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b7d52d-ccc6-4271-8525-2066137ae7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a2171c7-2f68-48d5-939d-db62c42d5d8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501e4a-bed8-4683-bbdf-45914605538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e298cabb-82e2-4eef-bf15-fb177c3758d0}" ma:internalName="TaxCatchAll" ma:showField="CatchAllData" ma:web="4a501e4a-bed8-4683-bbdf-4591460553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a501e4a-bed8-4683-bbdf-459146055382" xsi:nil="true"/>
    <lcf76f155ced4ddcb4097134ff3c332f xmlns="beb7d52d-ccc6-4271-8525-2066137ae74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DA8CDC-906F-4552-9AD7-F5722BB663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b7d52d-ccc6-4271-8525-2066137ae745"/>
    <ds:schemaRef ds:uri="4a501e4a-bed8-4683-bbdf-459146055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EC77B1-F057-4015-826D-089A35C8D0D8}">
  <ds:schemaRefs>
    <ds:schemaRef ds:uri="4a501e4a-bed8-4683-bbdf-459146055382"/>
    <ds:schemaRef ds:uri="beb7d52d-ccc6-4271-8525-2066137ae74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5A7D680-4F60-44E5-B263-0039F6FB29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2796</TotalTime>
  <Words>1662</Words>
  <Application>Microsoft Macintosh PowerPoint</Application>
  <PresentationFormat>Widescreen</PresentationFormat>
  <Paragraphs>127</Paragraphs>
  <Slides>28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Calibri</vt:lpstr>
      <vt:lpstr>Public Sans Black</vt:lpstr>
      <vt:lpstr>Public Sans SemiBold</vt:lpstr>
      <vt:lpstr>Public Sans</vt:lpstr>
      <vt:lpstr>Public Sans Medium</vt:lpstr>
      <vt:lpstr>Arial</vt:lpstr>
      <vt:lpstr>Office Theme</vt:lpstr>
      <vt:lpstr>Investigating Uneven Surface Heating in the Carolina Sandhills Region</vt:lpstr>
      <vt:lpstr>PowerPoint Presentation</vt:lpstr>
      <vt:lpstr>Background</vt:lpstr>
      <vt:lpstr>Background</vt:lpstr>
      <vt:lpstr>Background</vt:lpstr>
      <vt:lpstr>PowerPoint Presentation</vt:lpstr>
      <vt:lpstr>PowerPoint Presentation</vt:lpstr>
      <vt:lpstr>PowerPoint Presentation</vt:lpstr>
      <vt:lpstr>Dataset</vt:lpstr>
      <vt:lpstr>Dataset</vt:lpstr>
      <vt:lpstr>Land Surface Temperature Data Pipeline</vt:lpstr>
      <vt:lpstr>Land Surface Temperature Pipeline</vt:lpstr>
      <vt:lpstr>Vegetation Index Data Pipeline</vt:lpstr>
      <vt:lpstr>Vegetation Index Data Pipeline</vt:lpstr>
      <vt:lpstr>Methods</vt:lpstr>
      <vt:lpstr>PowerPoint Presentation</vt:lpstr>
      <vt:lpstr>Daytime Land Surface Temperature</vt:lpstr>
      <vt:lpstr>Nighttime Land Surface Temperature</vt:lpstr>
      <vt:lpstr>Diurnal Land Surface Temperature Range</vt:lpstr>
      <vt:lpstr>NDVI</vt:lpstr>
      <vt:lpstr>NDVI vs LST</vt:lpstr>
      <vt:lpstr>PowerPoint Presentation</vt:lpstr>
      <vt:lpstr>Conclusions - LST</vt:lpstr>
      <vt:lpstr>Conclusions - NDVI</vt:lpstr>
      <vt:lpstr>Conclusions – NDVI vs LST</vt:lpstr>
      <vt:lpstr>Conclusion – Science Question</vt:lpstr>
      <vt:lpstr>PowerPoint Presentation</vt:lpstr>
      <vt:lpstr>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Reid, Jill</dc:creator>
  <cp:keywords/>
  <dc:description/>
  <cp:lastModifiedBy>Gilbert, Cameron D</cp:lastModifiedBy>
  <cp:revision>119</cp:revision>
  <dcterms:created xsi:type="dcterms:W3CDTF">2020-07-03T14:34:26Z</dcterms:created>
  <dcterms:modified xsi:type="dcterms:W3CDTF">2026-05-13T16:13:25Z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0x010100D1A76EFAA786CA479EB89835076BC74C</vt:lpwstr>
  </property>
  <property fmtid="{D5CDD505-2E9C-101B-9397-08002B2CF9AE}" pid="3" name="MediaServiceImageTags">
    <vt:lpwstr/>
  </property>
</Properties>
</file>